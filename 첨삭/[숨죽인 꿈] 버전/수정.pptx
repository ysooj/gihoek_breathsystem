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3" r:id="rId2"/>
    <p:sldId id="264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C3D73A-10F8-4081-9E70-142510AB4D12}" v="1" dt="2026-09-29T10:46:49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custSel addSld modSld">
      <pc:chgData name="musukie52@gmail.com" userId="017bd91f96aa8751" providerId="LiveId" clId="{5B2C3894-F97E-4CAB-8812-5BB4D83AAC6A}" dt="2026-09-29T10:46:49.976" v="24" actId="27636"/>
      <pc:docMkLst>
        <pc:docMk/>
      </pc:docMkLst>
      <pc:sldChg chg="modSp add mod setBg">
        <pc:chgData name="musukie52@gmail.com" userId="017bd91f96aa8751" providerId="LiveId" clId="{5B2C3894-F97E-4CAB-8812-5BB4D83AAC6A}" dt="2026-09-29T10:46:49.976" v="24" actId="27636"/>
        <pc:sldMkLst>
          <pc:docMk/>
          <pc:sldMk cId="0" sldId="263"/>
        </pc:sldMkLst>
        <pc:spChg chg="mod">
          <ac:chgData name="musukie52@gmail.com" userId="017bd91f96aa8751" providerId="LiveId" clId="{5B2C3894-F97E-4CAB-8812-5BB4D83AAC6A}" dt="2026-09-29T10:46:49.949" v="16" actId="27636"/>
          <ac:spMkLst>
            <pc:docMk/>
            <pc:sldMk cId="0" sldId="263"/>
            <ac:spMk id="9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955" v="18" actId="2763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958" v="19" actId="2763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976" v="24" actId="2763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968" v="23" actId="27636"/>
          <ac:spMkLst>
            <pc:docMk/>
            <pc:sldMk cId="0" sldId="263"/>
            <ac:spMk id="27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945" v="14" actId="27636"/>
          <ac:spMkLst>
            <pc:docMk/>
            <pc:sldMk cId="0" sldId="263"/>
            <ac:spMk id="29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959" v="20" actId="27636"/>
          <ac:spMkLst>
            <pc:docMk/>
            <pc:sldMk cId="0" sldId="263"/>
            <ac:spMk id="31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946" v="15" actId="27636"/>
          <ac:spMkLst>
            <pc:docMk/>
            <pc:sldMk cId="0" sldId="263"/>
            <ac:spMk id="33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964" v="22" actId="27636"/>
          <ac:spMkLst>
            <pc:docMk/>
            <pc:sldMk cId="0" sldId="263"/>
            <ac:spMk id="35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953" v="17" actId="27636"/>
          <ac:spMkLst>
            <pc:docMk/>
            <pc:sldMk cId="0" sldId="263"/>
            <ac:spMk id="37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962" v="21" actId="27636"/>
          <ac:spMkLst>
            <pc:docMk/>
            <pc:sldMk cId="0" sldId="263"/>
            <ac:spMk id="47" creationId="{00000000-0000-0000-0000-000000000000}"/>
          </ac:spMkLst>
        </pc:spChg>
      </pc:sldChg>
      <pc:sldChg chg="modSp add mod setBg">
        <pc:chgData name="musukie52@gmail.com" userId="017bd91f96aa8751" providerId="LiveId" clId="{5B2C3894-F97E-4CAB-8812-5BB4D83AAC6A}" dt="2026-09-29T10:46:49.912" v="13" actId="27636"/>
        <pc:sldMkLst>
          <pc:docMk/>
          <pc:sldMk cId="0" sldId="264"/>
        </pc:sldMkLst>
        <pc:spChg chg="mod">
          <ac:chgData name="musukie52@gmail.com" userId="017bd91f96aa8751" providerId="LiveId" clId="{5B2C3894-F97E-4CAB-8812-5BB4D83AAC6A}" dt="2026-09-29T10:46:49.906" v="10" actId="27636"/>
          <ac:spMkLst>
            <pc:docMk/>
            <pc:sldMk cId="0" sldId="264"/>
            <ac:spMk id="9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912" v="13" actId="2763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896" v="3" actId="2763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908" v="12" actId="2763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899" v="6" actId="2763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897" v="4" actId="2763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901" v="8" actId="2763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893" v="1" actId="27636"/>
          <ac:spMkLst>
            <pc:docMk/>
            <pc:sldMk cId="0" sldId="264"/>
            <ac:spMk id="25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900" v="7" actId="2763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907" v="11" actId="2763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895" v="2" actId="27636"/>
          <ac:spMkLst>
            <pc:docMk/>
            <pc:sldMk cId="0" sldId="264"/>
            <ac:spMk id="29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898" v="5" actId="27636"/>
          <ac:spMkLst>
            <pc:docMk/>
            <pc:sldMk cId="0" sldId="264"/>
            <ac:spMk id="32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29T10:46:49.902" v="9" actId="27636"/>
          <ac:spMkLst>
            <pc:docMk/>
            <pc:sldMk cId="0" sldId="264"/>
            <ac:spMk id="3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B1F79-8452-437F-9B42-7AA51A4D9E2A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9D0D1-6CC7-4887-8280-8438141DE4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145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514DA3-0575-2566-E9DC-078D9B2E7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790EDC-4470-9B9C-5D92-E806DF074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092A88-67E8-396D-BE12-84E2A8819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2D971-AF69-4C10-894E-CF3F365D385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AB7AD1-70E8-E63D-43C7-19FB91664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84309E-6605-0D18-828A-782394789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1224-FF58-4DDD-B4FB-95B27328A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099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618CE-7CA4-B8CE-FFA7-DB6654AAD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14A675-1AEF-D3F3-B285-15AA85155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72905C-4A41-7BFC-B971-2590344EB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2D971-AF69-4C10-894E-CF3F365D385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FD29B0-EB0D-B9D4-B95D-ACDD3AE4B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7FB544-20E9-1C0A-128E-B1D5F78D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1224-FF58-4DDD-B4FB-95B27328A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32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C908F-DB1D-4D11-8CD1-9FD373061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F349B0-4B7B-170E-988B-30186C948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5224C8-6E29-412A-C667-CEF055F49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2D971-AF69-4C10-894E-CF3F365D385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C24254-29D3-6D18-9283-3298601C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DF32CE-EF81-52AD-016E-DDE20B2C4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1224-FF58-4DDD-B4FB-95B27328A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215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1331E-56BE-7B4D-B0FB-36A7A1745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D51A9A-A672-FD3C-2189-748C543DE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CEB65C-C746-8F87-7FB6-32A2EC4EB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7216CD-C0C8-C8BD-AC87-F519C1290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2D971-AF69-4C10-894E-CF3F365D385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4B61D6-ED0D-0239-95F2-9639B8007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D64923-AF46-75C8-A4DF-71AF9DF89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1224-FF58-4DDD-B4FB-95B27328A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546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2B200-7BBE-D447-3F64-F35A8999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07F1C6-95A8-1EDA-2E62-16E19EC6C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3852BF-8C6B-D8C0-9D43-6E83FADB7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0F0633-D893-E6B3-D86A-C8359FAAA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1760424-BFDD-FE37-3545-5656244D1C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54C0880-1A63-3DE7-B287-25F26C77A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2D971-AF69-4C10-894E-CF3F365D385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75920FB-41BE-DE0E-0BD5-045CD91F1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D7BA80-B86A-32F2-4F4A-C5F66945F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1224-FF58-4DDD-B4FB-95B27328A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53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60BB1-D221-5AC4-1591-BCF59AC3F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C2C1E4-0AC0-AB47-0160-E9481663B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2D971-AF69-4C10-894E-CF3F365D385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DBE77A-5267-DC33-D8FF-795E0E2A9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288574-4B52-5CA3-ADBD-AB8696E28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1224-FF58-4DDD-B4FB-95B27328A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970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CDA64EB-C685-FA5E-AA9A-CA1743992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2D971-AF69-4C10-894E-CF3F365D385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1899EF-9755-40EE-3477-CBDB1EC9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7A458F-5C90-5632-071D-5B1759E45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1224-FF58-4DDD-B4FB-95B27328A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424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C51B7-4532-E209-0EB1-1A839FC7D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454F48-A6F3-36C0-4E14-6EFB53B52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0B2DDE-D2F3-52BA-8390-4CDF100A2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D23F19-9E7B-D23C-4A2A-84557250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2D971-AF69-4C10-894E-CF3F365D385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F17FE9-7657-DFF3-8F95-B555123D3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989D56-9942-A948-37FD-2EB8F221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1224-FF58-4DDD-B4FB-95B27328A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05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D4EAB-A06C-63C6-BCBE-16FD80BC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D9E8E6-8B52-5548-7002-2E1BA4EA15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E64188-5D3B-9053-68B3-A6E30F7F9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801930-874D-5397-6C2C-4ACE0445A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2D971-AF69-4C10-894E-CF3F365D385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BF0649-CB35-AD6A-5D24-4863EA952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E29575-2B46-2724-5C63-63D940F74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1224-FF58-4DDD-B4FB-95B27328A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84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A552C-9CD1-19AD-EF7A-F79B7941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FB4F6B-5C53-08C2-3310-70F88306F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5D92A2-E265-30FC-CED8-0F9CB1441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2D971-AF69-4C10-894E-CF3F365D385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CB752B-7F6D-A559-0D4B-5A02E1BA1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7DFB2F-2F6F-419F-C9EF-BA5719F02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1224-FF58-4DDD-B4FB-95B27328A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440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A92DD50-4E4C-41BA-88CF-D781D35D1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AFA2EB-90F8-E30F-D293-6B73B5CB8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2959AB-65BD-5012-DF26-71BBC93B8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2D971-AF69-4C10-894E-CF3F365D385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C9242F-A68B-22A0-BC83-EB8D75E91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3E1821-D355-0B06-DF47-4F92AADE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1224-FF58-4DDD-B4FB-95B27328A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152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5673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3061499-B937-32DF-44DF-ED5D105A2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E021C1-675E-B652-7533-BDDE6256F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C2F4D9-2F8A-EC5B-5705-1BB80FA1A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2D971-AF69-4C10-894E-CF3F365D385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8F6475-F853-A836-CB5F-B64EF7C29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0E6D27-FC10-5314-8B4D-F25F66292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71224-FF58-4DDD-B4FB-95B27328A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799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공기 환경 및 수중 규칙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89920" y="384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100" b="1">
                <a:solidFill>
                  <a:srgbClr val="2FAEA0"/>
                </a:solidFill>
                <a:latin typeface="Pretendard"/>
              </a:defRPr>
            </a:pPr>
            <a:r>
              <a:t>09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987552"/>
            <a:ext cx="10789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환경에 따라 호흡 행동의 위험도가 달라지며, 수중에서는 호흡량 자체가 생존 자원으로 전환됨.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141732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85800" y="1417320"/>
            <a:ext cx="73152" cy="1143000"/>
          </a:xfrm>
          <a:prstGeom prst="rect">
            <a:avLst/>
          </a:prstGeom>
          <a:solidFill>
            <a:srgbClr val="2AA6A1"/>
          </a:solidFill>
          <a:ln w="12700">
            <a:solidFill>
              <a:srgbClr val="2AA6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86968" y="1563624"/>
            <a:ext cx="229514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공기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" y="1984248"/>
            <a:ext cx="2295144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자극도 -20/s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오염도 -40/s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상태 회복 가능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11880" y="141732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611880" y="1417320"/>
            <a:ext cx="73152" cy="1143000"/>
          </a:xfrm>
          <a:prstGeom prst="rect">
            <a:avLst/>
          </a:prstGeom>
          <a:solidFill>
            <a:srgbClr val="B99A55"/>
          </a:solidFill>
          <a:ln w="12700">
            <a:solidFill>
              <a:srgbClr val="B99A5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813048" y="1563624"/>
            <a:ext cx="229514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 공기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13048" y="1984248"/>
            <a:ext cx="2295144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먼지 / 꽃가루 / 일반 연기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 자극도 +20/s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 도달 시 자극 이상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141732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537960" y="1417320"/>
            <a:ext cx="73152" cy="1143000"/>
          </a:xfrm>
          <a:prstGeom prst="rect">
            <a:avLst/>
          </a:prstGeom>
          <a:solidFill>
            <a:srgbClr val="70876A"/>
          </a:solidFill>
          <a:ln w="12700">
            <a:solidFill>
              <a:srgbClr val="70876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739128" y="1563624"/>
            <a:ext cx="229514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유해 공기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39128" y="1984248"/>
            <a:ext cx="2295144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독가스: 오염도 +25/s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유해 연기: 오염도 +25/s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 이상 이상 / 100 사망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64040" y="141732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464040" y="1417320"/>
            <a:ext cx="73152" cy="1143000"/>
          </a:xfrm>
          <a:prstGeom prst="rect">
            <a:avLst/>
          </a:prstGeom>
          <a:solidFill>
            <a:srgbClr val="657F95"/>
          </a:solidFill>
          <a:ln w="12700">
            <a:solidFill>
              <a:srgbClr val="657F9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665208" y="1563624"/>
            <a:ext cx="16550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수중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65208" y="1984248"/>
            <a:ext cx="1655064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 -10/s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들숨 입력 시 -100/s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 0 → 익사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자극·오염은 고정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2907792"/>
            <a:ext cx="10835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14400" y="3090672"/>
            <a:ext cx="51663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공기 누적량 = 환경 기본 누적량 × 호흡 행동 배율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400800" y="3163824"/>
            <a:ext cx="987552" cy="256032"/>
          </a:xfrm>
          <a:prstGeom prst="roundRect">
            <a:avLst>
              <a:gd name="adj" fmla="val 28571"/>
            </a:avLst>
          </a:prstGeom>
          <a:solidFill>
            <a:srgbClr val="61777A">
              <a:alpha val="92000"/>
            </a:srgbClr>
          </a:solidFill>
          <a:ln w="12700">
            <a:solidFill>
              <a:srgbClr val="61777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46520" y="3223260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평상 ×0.5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98080" y="3163824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2AA6A1">
              <a:alpha val="92000"/>
            </a:srgbClr>
          </a:solidFill>
          <a:ln w="12700">
            <a:solidFill>
              <a:srgbClr val="2AA6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543800" y="322326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들숨 ×1.0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49640" y="3163824"/>
            <a:ext cx="987552" cy="256032"/>
          </a:xfrm>
          <a:prstGeom prst="roundRect">
            <a:avLst>
              <a:gd name="adj" fmla="val 28571"/>
            </a:avLst>
          </a:prstGeom>
          <a:solidFill>
            <a:srgbClr val="657F95">
              <a:alpha val="92000"/>
            </a:srgbClr>
          </a:solidFill>
          <a:ln w="12700">
            <a:solidFill>
              <a:srgbClr val="657F9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595360" y="3223260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 참기 ×0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646920" y="3163824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B99A55">
              <a:alpha val="92000"/>
            </a:srgbClr>
          </a:solidFill>
          <a:ln w="12700">
            <a:solidFill>
              <a:srgbClr val="B99A5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9692640" y="32232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날숨 ×0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625328" y="3163824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A45F5F">
              <a:alpha val="92000"/>
            </a:srgbClr>
          </a:solidFill>
          <a:ln w="12700">
            <a:solidFill>
              <a:srgbClr val="A45F5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10671048" y="3223260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과흡입·강제 호흡 ×1.5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" y="397764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685800" y="3977640"/>
            <a:ext cx="73152" cy="1417320"/>
          </a:xfrm>
          <a:prstGeom prst="rect">
            <a:avLst/>
          </a:prstGeom>
          <a:solidFill>
            <a:srgbClr val="B99A55"/>
          </a:solidFill>
          <a:ln w="12700">
            <a:solidFill>
              <a:srgbClr val="B99A5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86968" y="4123944"/>
            <a:ext cx="480974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 예시: 먼지 +20/s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86968" y="4544568"/>
            <a:ext cx="4809744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평상 호흡: 20 × 0.5 = +10/s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들숨: 20 × 1.0 = +20/s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 참기·날숨: 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강제 호흡: 20 × 1.5 = +30/s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397764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6263640" y="3977640"/>
            <a:ext cx="73152" cy="1417320"/>
          </a:xfrm>
          <a:prstGeom prst="rect">
            <a:avLst/>
          </a:prstGeom>
          <a:solidFill>
            <a:srgbClr val="61777A"/>
          </a:solidFill>
          <a:ln w="12700">
            <a:solidFill>
              <a:srgbClr val="61777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464808" y="4123944"/>
            <a:ext cx="48554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공기 중첩 규칙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464808" y="4544568"/>
            <a:ext cx="4855464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종류가 겹치면 자극도·오염도 각각 독립 누적.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종류의 위험원이 겹치면 가장 높은 누적량 하나만 적용.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68680" y="5806440"/>
            <a:ext cx="10424160" cy="429768"/>
          </a:xfrm>
          <a:prstGeom prst="roundRect">
            <a:avLst>
              <a:gd name="adj" fmla="val 21277"/>
            </a:avLst>
          </a:prstGeom>
          <a:solidFill>
            <a:srgbClr val="ECF5F3"/>
          </a:solidFill>
          <a:ln w="12700">
            <a:solidFill>
              <a:srgbClr val="CDE7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1097280" y="5943600"/>
            <a:ext cx="99669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8p는 “무엇이 얼마나 쌓이는가”를 설명하고, 9p는 누적 결과로 발생하는 이상 상태를 설명함.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자극도·오염도 및 이상 상태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89920" y="3840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61777A"/>
                </a:solidFill>
                <a:latin typeface="Pretendard"/>
              </a:defRPr>
            </a:pPr>
            <a: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7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CED9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100" b="1">
                <a:solidFill>
                  <a:srgbClr val="2FAEA0"/>
                </a:solidFill>
                <a:latin typeface="Pretendard"/>
              </a:defRPr>
            </a:pPr>
            <a:r>
              <a:t>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987552"/>
            <a:ext cx="10789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공기를 흡입하면 자극도 또는 오염도가 누적되며, 임계치 도달 시 호흡 조작이 제한되는 이상 상태가 발생함.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141732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85800" y="1417320"/>
            <a:ext cx="73152" cy="960120"/>
          </a:xfrm>
          <a:prstGeom prst="rect">
            <a:avLst/>
          </a:prstGeom>
          <a:solidFill>
            <a:srgbClr val="B99A55"/>
          </a:solidFill>
          <a:ln w="12700">
            <a:solidFill>
              <a:srgbClr val="B99A5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86968" y="1563624"/>
            <a:ext cx="27980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" y="1984248"/>
            <a:ext cx="279806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먼지·꽃가루·일반 연기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0~100 누적 / 사망 없음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2788920"/>
            <a:ext cx="2743200" cy="0"/>
          </a:xfrm>
          <a:prstGeom prst="line">
            <a:avLst/>
          </a:prstGeom>
          <a:noFill/>
          <a:ln w="63500">
            <a:solidFill>
              <a:srgbClr val="B99A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2944368"/>
            <a:ext cx="3657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2944368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944368"/>
            <a:ext cx="5486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80360" y="2560320"/>
            <a:ext cx="0" cy="457200"/>
          </a:xfrm>
          <a:prstGeom prst="line">
            <a:avLst/>
          </a:prstGeom>
          <a:noFill/>
          <a:ln w="12700">
            <a:solidFill>
              <a:srgbClr val="0B35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611880" y="2560320"/>
            <a:ext cx="0" cy="457200"/>
          </a:xfrm>
          <a:prstGeom prst="line">
            <a:avLst/>
          </a:prstGeom>
          <a:noFill/>
          <a:ln w="12700">
            <a:solidFill>
              <a:srgbClr val="A45F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2331720" y="3218688"/>
            <a:ext cx="822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해제 기준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≤80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3218688"/>
            <a:ext cx="822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45F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 이상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45F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75320" y="141732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275320" y="1417320"/>
            <a:ext cx="73152" cy="960120"/>
          </a:xfrm>
          <a:prstGeom prst="rect">
            <a:avLst/>
          </a:prstGeom>
          <a:solidFill>
            <a:srgbClr val="70876A"/>
          </a:solidFill>
          <a:ln w="12700">
            <a:solidFill>
              <a:srgbClr val="70876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476488" y="1563624"/>
            <a:ext cx="27980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오염도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76488" y="1984248"/>
            <a:ext cx="279806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독가스·유해 연기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0~100 누적 / 100 사망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58200" y="2788920"/>
            <a:ext cx="2743200" cy="0"/>
          </a:xfrm>
          <a:prstGeom prst="line">
            <a:avLst/>
          </a:prstGeom>
          <a:noFill/>
          <a:ln w="63500">
            <a:solidFill>
              <a:srgbClr val="7087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412480" y="2944368"/>
            <a:ext cx="3657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38360" y="2944368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27080" y="2944368"/>
            <a:ext cx="5486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966960" y="2560320"/>
            <a:ext cx="0" cy="457200"/>
          </a:xfrm>
          <a:prstGeom prst="line">
            <a:avLst/>
          </a:prstGeom>
          <a:noFill/>
          <a:ln w="12700">
            <a:solidFill>
              <a:srgbClr val="0B35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1201400" y="2560320"/>
            <a:ext cx="0" cy="457200"/>
          </a:xfrm>
          <a:prstGeom prst="line">
            <a:avLst/>
          </a:prstGeom>
          <a:noFill/>
          <a:ln w="12700">
            <a:solidFill>
              <a:srgbClr val="A45F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601200" y="3218688"/>
            <a:ext cx="822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오염 이상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27080" y="3218688"/>
            <a:ext cx="731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45F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45F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15968" y="15087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315968" y="1508760"/>
            <a:ext cx="73152" cy="2148840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517136" y="1655064"/>
            <a:ext cx="316382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상태 공통 효과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517136" y="2075688"/>
            <a:ext cx="3163824" cy="1435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 기침 / 1초마다 소리 1회 / 반경 10m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이동속도 50% / 호흡 조작 불가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시스템상 평상 호흡, 위험 공기 ×0.5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호흡량 -50/s → 0, 추가 페널티 없음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15968" y="397764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4E3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4315968" y="3977640"/>
            <a:ext cx="73152" cy="1234440"/>
          </a:xfrm>
          <a:prstGeom prst="rect">
            <a:avLst/>
          </a:prstGeom>
          <a:solidFill>
            <a:srgbClr val="A45F5F"/>
          </a:solidFill>
          <a:ln w="12700">
            <a:solidFill>
              <a:srgbClr val="A45F5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517136" y="4123944"/>
            <a:ext cx="316382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복합 이상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517136" y="4544568"/>
            <a:ext cx="3163824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 이상 + 오염 이상 동시 발생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기침은 중복 없음 / 이동속도 35%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52C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게이지는 각각 독립 회복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14400" y="5806440"/>
            <a:ext cx="10332720" cy="502920"/>
          </a:xfrm>
          <a:prstGeom prst="roundRect">
            <a:avLst>
              <a:gd name="adj" fmla="val 18182"/>
            </a:avLst>
          </a:prstGeom>
          <a:solidFill>
            <a:srgbClr val="ECF5F3"/>
          </a:solidFill>
          <a:ln w="12700">
            <a:solidFill>
              <a:srgbClr val="CDE7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1097280" y="5961888"/>
            <a:ext cx="99669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5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회복: 안전 공기에서 자극도 -20/s, 오염도 -40/s · 자극 이상은 80 이하 해제, 오염 이상은 0에서 해제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</Words>
  <Application>Microsoft Office PowerPoint</Application>
  <PresentationFormat>와이드스크린</PresentationFormat>
  <Paragraphs>74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Pretendard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2026-09-29T10:46:30Z</dcterms:created>
  <dcterms:modified xsi:type="dcterms:W3CDTF">2026-09-29T10:46:51Z</dcterms:modified>
</cp:coreProperties>
</file>