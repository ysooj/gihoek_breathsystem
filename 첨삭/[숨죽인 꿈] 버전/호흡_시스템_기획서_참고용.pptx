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108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modSld">
      <pc:chgData name="musukie52@gmail.com" userId="017bd91f96aa8751" providerId="LiveId" clId="{5B2C3894-F97E-4CAB-8812-5BB4D83AAC6A}" dt="2026-09-26T13:50:37.546" v="2" actId="20577"/>
      <pc:docMkLst>
        <pc:docMk/>
      </pc:docMkLst>
      <pc:sldChg chg="modSp mod">
        <pc:chgData name="musukie52@gmail.com" userId="017bd91f96aa8751" providerId="LiveId" clId="{5B2C3894-F97E-4CAB-8812-5BB4D83AAC6A}" dt="2026-09-26T13:50:37.546" v="2" actId="20577"/>
        <pc:sldMkLst>
          <pc:docMk/>
          <pc:sldMk cId="0" sldId="263"/>
        </pc:sldMkLst>
        <pc:spChg chg="mod">
          <ac:chgData name="musukie52@gmail.com" userId="017bd91f96aa8751" providerId="LiveId" clId="{5B2C3894-F97E-4CAB-8812-5BB4D83AAC6A}" dt="2026-09-26T13:50:37.546" v="2" actId="20577"/>
          <ac:spMkLst>
            <pc:docMk/>
            <pc:sldMk cId="0" sldId="26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30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atmospheric_cinematic_illustration_an_eeri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1923">
              <a:alpha val="90000"/>
            </a:srgbClr>
          </a:solidFill>
          <a:ln w="12700">
            <a:solidFill>
              <a:srgbClr val="10192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43000"/>
            <a:ext cx="3749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시스템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30352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7E7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쉬는 순간조차 선택이 된다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5166360"/>
            <a:ext cx="3703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인형 악몽 세계관 기반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 싱글 플레이 액션 어드벤처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기획 포트폴리오 v0.2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526280"/>
            <a:ext cx="3566160" cy="9144"/>
          </a:xfrm>
          <a:prstGeom prst="rect">
            <a:avLst/>
          </a:prstGeom>
          <a:noFill/>
          <a:ln w="25400">
            <a:solidFill>
              <a:srgbClr val="2AA6A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9364F"/>
                </a:solidFill>
                <a:latin typeface="Pretendard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1777A"/>
                </a:solidFill>
                <a:latin typeface="Pretendard"/>
              </a:defRPr>
            </a:pPr>
            <a:r>
              <a:t>2 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201400" cy="13716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AEA0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7043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9364F"/>
                </a:solidFill>
                <a:latin typeface="Pretendard"/>
              </a:defRPr>
            </a:pPr>
            <a:r>
              <a:t>게임·시스템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17957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09364F"/>
                </a:solidFill>
                <a:latin typeface="Pretendard"/>
              </a:defRPr>
            </a:pPr>
            <a:r>
              <a:t>3–5p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581912"/>
            <a:ext cx="4617720" cy="9144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169164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1)  게임 및 시스템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6916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3p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002536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2)  시스템 볼륨맵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0253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4p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31343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3)  핵심 플레이 순환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31343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5p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AEA0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49631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9364F"/>
                </a:solidFill>
                <a:latin typeface="Pretendard"/>
              </a:defRPr>
            </a:pPr>
            <a:r>
              <a:t>플레이 화면·UI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0545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09364F"/>
                </a:solidFill>
                <a:latin typeface="Pretendard"/>
              </a:defRPr>
            </a:pPr>
            <a:r>
              <a:t>6p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2907792"/>
            <a:ext cx="4617720" cy="9144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07592" y="301752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1)  게임 플레이 화면과 HUD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017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6p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AEA0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5643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9364F"/>
                </a:solidFill>
                <a:latin typeface="Pretendard"/>
              </a:defRPr>
            </a:pPr>
            <a:r>
              <a:t>시스템 규칙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46557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09364F"/>
                </a:solidFill>
                <a:latin typeface="Pretendard"/>
              </a:defRPr>
            </a:pPr>
            <a:r>
              <a:t>7–11p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3867911"/>
            <a:ext cx="4617720" cy="9144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07592" y="3977639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1)  호흡 행동 규칙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977639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7p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4288536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2)  과흡입·강제 호흡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28853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8p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599431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3)  공기 환경 및 수중 규칙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599431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9p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7592" y="4910327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4)  자극도·오염도 및 이상 상태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910327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10p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5221223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5)  인형 감지 시스템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5221223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11p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18872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AEA0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117043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9364F"/>
                </a:solidFill>
                <a:latin typeface="Pretendard"/>
              </a:defRPr>
            </a:pPr>
            <a:r>
              <a:t>시스템 구조도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17957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09364F"/>
                </a:solidFill>
                <a:latin typeface="Pretendard"/>
              </a:defRPr>
            </a:pPr>
            <a:r>
              <a:t>12p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1581912"/>
            <a:ext cx="4617720" cy="9144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22592" y="169164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1)  통합 플로우 + 환경 플로우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16916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12p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10312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AEA0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2084831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9364F"/>
                </a:solidFill>
                <a:latin typeface="Pretendard"/>
              </a:defRPr>
            </a:pPr>
            <a:r>
              <a:t>레퍼런스 분석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209397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09364F"/>
                </a:solidFill>
                <a:latin typeface="Pretendard"/>
              </a:defRPr>
            </a:pPr>
            <a:r>
              <a:t>13p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496312"/>
            <a:ext cx="4617720" cy="9144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22592" y="2606039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1)  「DEATH STRANDING」 비교·차별화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2606039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13p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97180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AEA0"/>
                </a:solidFill>
                <a:latin typeface="Pretendard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295351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9364F"/>
                </a:solidFill>
                <a:latin typeface="Pretendard"/>
              </a:defRPr>
            </a:pPr>
            <a:r>
              <a:t>적용 예시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96265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09364F"/>
                </a:solidFill>
                <a:latin typeface="Pretendard"/>
              </a:defRPr>
            </a:pPr>
            <a:r>
              <a:t>14–15p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5160" y="3364992"/>
            <a:ext cx="4617720" cy="9144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22592" y="347472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1)  시스템 응용 사례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34747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14p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3785615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2)  맵 적용 예시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3785615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15p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34340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AEA0"/>
                </a:solidFill>
                <a:latin typeface="Pretendard"/>
              </a:defRPr>
            </a:pPr>
            <a: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432511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9364F"/>
                </a:solidFill>
                <a:latin typeface="Pretendard"/>
              </a:defRPr>
            </a:pPr>
            <a:r>
              <a:t>제작 명세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433425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09364F"/>
                </a:solidFill>
                <a:latin typeface="Pretendard"/>
              </a:defRPr>
            </a:pPr>
            <a:r>
              <a:t>16–18p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95160" y="4736592"/>
            <a:ext cx="4617720" cy="9144"/>
          </a:xfrm>
          <a:prstGeom prst="rect">
            <a:avLst/>
          </a:prstGeom>
          <a:solidFill>
            <a:srgbClr val="C5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22592" y="484632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1)  예외 처리 및 안전장치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48463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16p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2592" y="5157216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2)  주요 데이터 및 밸런스 검증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515721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17p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46811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1777A"/>
                </a:solidFill>
                <a:latin typeface="Pretendard"/>
              </a:defRPr>
            </a:pPr>
            <a:r>
              <a:t>3)  출처 및 디자인 가이드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54681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>
                <a:solidFill>
                  <a:srgbClr val="61777A"/>
                </a:solidFill>
                <a:latin typeface="Pretendard"/>
              </a:defRPr>
            </a:pPr>
            <a:r>
              <a:t>18p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6144768"/>
            <a:ext cx="10972800" cy="411480"/>
          </a:xfrm>
          <a:prstGeom prst="roundRect">
            <a:avLst/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6236208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2C32"/>
                </a:solidFill>
                <a:latin typeface="Pretendard"/>
              </a:defRPr>
            </a:pPr>
            <a:r>
              <a:t>페이지 구성 원칙: 개요 → 규칙 → 구조 → 레퍼런스 → 적용 → 데이터 순서로, 동일한 규칙을 반복하지 않고 필요한 위치에서만 설명함.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7572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1777A"/>
                </a:solidFill>
                <a:latin typeface="Pretendard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및 시스템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1887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188720"/>
            <a:ext cx="73152" cy="114300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58952" y="133502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335024"/>
            <a:ext cx="4343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정의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5528" y="1755648"/>
            <a:ext cx="471830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플레이어가 들숨 → 숨 참기 → 날숨을 직접 조작하여 적 감지, 위험 공기, 수중 이동을 하나의 호흡 자원으로 대응하는 핵심 시스템.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18872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89320" y="1188720"/>
            <a:ext cx="73152" cy="1143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153912" y="133502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1335024"/>
            <a:ext cx="4663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슬로건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0488" y="1755648"/>
            <a:ext cx="503834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“숨 쉬는 순간조차 선택이 된다.”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26060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94360" y="2606040"/>
            <a:ext cx="73152" cy="1920240"/>
          </a:xfrm>
          <a:prstGeom prst="rect">
            <a:avLst/>
          </a:prstGeom>
          <a:solidFill>
            <a:srgbClr val="61777A"/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58952" y="275234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2752344"/>
            <a:ext cx="2651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소개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5528" y="3172968"/>
            <a:ext cx="3026664" cy="1207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자주 집을 비우는 아이가 악몽 속에서 뒤틀린 집과 인형들을 지나 현실로 돌아가는 3D 싱글 플레이 액션 어드벤처.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26060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370832" y="2606040"/>
            <a:ext cx="73152" cy="192024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35424" y="275234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65192" y="2752344"/>
            <a:ext cx="2651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의도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3172968"/>
            <a:ext cx="3026664" cy="1207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평소에는 의식하지 않는 호흡을 플레이어가 판단하고 조절하는 행동으로 전환. 은신·환경 대응·이동이 하나의 입력으로 연결됨.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09560" y="26060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909560" y="2606040"/>
            <a:ext cx="73152" cy="192024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074152" y="275234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87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 효과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10728" y="3172968"/>
            <a:ext cx="3118104" cy="1207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 위치와 공기 상태를 확인하고, 어디서 호흡을 확보할지와 다음 안전 지점까지 갈 수 있는지를 판단하게 함.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4864608"/>
            <a:ext cx="10835640" cy="841248"/>
          </a:xfrm>
          <a:prstGeom prst="roundRect">
            <a:avLst>
              <a:gd name="adj" fmla="val 10870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22960" y="50749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재미 구조: 관찰과 준비 → 긴장 속 실행 → 안전 지점 도달의 해소 → 재준비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볼륨맵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331720"/>
            <a:ext cx="2926080" cy="1280160"/>
          </a:xfrm>
          <a:prstGeom prst="ellipse">
            <a:avLst/>
          </a:prstGeom>
          <a:solidFill>
            <a:srgbClr val="0B3551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00600" y="2578608"/>
            <a:ext cx="246888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시스템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입력·자원·판정 연결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1430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14400" y="1143000"/>
            <a:ext cx="73152" cy="100584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15568" y="1289304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행동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1709928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평상·들숨·숨 참기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날숨·과흡입·강제 호흡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89611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663440" y="896112"/>
            <a:ext cx="73152" cy="100584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64608" y="1042416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64608" y="1463040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0~100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확보 / 소비 / 수중 생존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58200" y="11430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458200" y="1143000"/>
            <a:ext cx="73152" cy="100584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59368" y="1289304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환경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59368" y="1709928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안전·자극·유해·수중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흡입량 변화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0690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73152" cy="1005840"/>
          </a:xfrm>
          <a:prstGeom prst="rect">
            <a:avLst/>
          </a:prstGeom>
          <a:solidFill>
            <a:srgbClr val="61777A"/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115568" y="4215384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인형 감지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15568" y="4636008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시야 / 호흡 소리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소리 / AI 반응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58200" y="40690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458200" y="4069080"/>
            <a:ext cx="73152" cy="100584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59368" y="4215384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변화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59368" y="4636008"/>
            <a:ext cx="23408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자극도·오염도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/ 사망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2971800"/>
            <a:ext cx="0" cy="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035040" y="2331720"/>
            <a:ext cx="0" cy="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452360" y="2971800"/>
            <a:ext cx="1005840" cy="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526280" y="3063240"/>
            <a:ext cx="0" cy="146304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452360" y="3063240"/>
            <a:ext cx="1005840" cy="146304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68680" y="5715000"/>
            <a:ext cx="33375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68680" y="5715000"/>
            <a:ext cx="73152" cy="68580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69848" y="5861304"/>
            <a:ext cx="29352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 없는 인형·위장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69848" y="6281928"/>
            <a:ext cx="2935224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소리 제어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5715000"/>
            <a:ext cx="33375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617720" y="5715000"/>
            <a:ext cx="73152" cy="68580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818888" y="5861304"/>
            <a:ext cx="29352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환기 장치·불 인형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818888" y="6281928"/>
            <a:ext cx="2935224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환경 변화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66760" y="5715000"/>
            <a:ext cx="33375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366760" y="5715000"/>
            <a:ext cx="73152" cy="68580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567928" y="5861304"/>
            <a:ext cx="29352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 구간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567928" y="6281928"/>
            <a:ext cx="2935224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생존 자원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463040" y="5257800"/>
            <a:ext cx="9601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호흡 행동이 자원 관리·적 감지·환경 위험과 연결되며, 상황마다 다른 플레이 판단을 요구함.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플레이 순환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호흡을 준비하고, 위험을 통과한 뒤, 다시 숨을 확보하는 플레이 경험의 반복 구조.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1444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73152" cy="1280160"/>
          </a:xfrm>
          <a:prstGeom prst="rect">
            <a:avLst/>
          </a:prstGeom>
          <a:solidFill>
            <a:srgbClr val="61777A"/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86968" y="2020824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관찰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2441448"/>
            <a:ext cx="104241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적·공기·경로 확인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03704" y="2514600"/>
            <a:ext cx="274320" cy="0"/>
          </a:xfrm>
          <a:prstGeom prst="line">
            <a:avLst/>
          </a:prstGeom>
          <a:noFill/>
          <a:ln w="1397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432304" y="1874520"/>
            <a:ext cx="1444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432304" y="1874520"/>
            <a:ext cx="73152" cy="128016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633472" y="2020824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호흡 준비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33472" y="2441448"/>
            <a:ext cx="104241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호흡량 확보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50208" y="2514600"/>
            <a:ext cx="274320" cy="0"/>
          </a:xfrm>
          <a:prstGeom prst="line">
            <a:avLst/>
          </a:prstGeom>
          <a:noFill/>
          <a:ln w="1397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178808" y="1874520"/>
            <a:ext cx="1444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178808" y="1874520"/>
            <a:ext cx="73152" cy="128016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79976" y="2020824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위험 진입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79976" y="2441448"/>
            <a:ext cx="104241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호흡 행동 선택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96712" y="2514600"/>
            <a:ext cx="274320" cy="0"/>
          </a:xfrm>
          <a:prstGeom prst="line">
            <a:avLst/>
          </a:prstGeom>
          <a:noFill/>
          <a:ln w="1397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925312" y="1874520"/>
            <a:ext cx="1444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25312" y="1874520"/>
            <a:ext cx="73152" cy="128016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26480" y="2020824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제어·이동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2441448"/>
            <a:ext cx="104241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자원과 위험 판단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43216" y="2514600"/>
            <a:ext cx="274320" cy="0"/>
          </a:xfrm>
          <a:prstGeom prst="line">
            <a:avLst/>
          </a:prstGeom>
          <a:noFill/>
          <a:ln w="1397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671816" y="1874520"/>
            <a:ext cx="1444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671816" y="1874520"/>
            <a:ext cx="73152" cy="128016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872984" y="2020824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안전 확보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72984" y="2441448"/>
            <a:ext cx="104241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감지·위험에서 이탈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89720" y="2514600"/>
            <a:ext cx="274320" cy="0"/>
          </a:xfrm>
          <a:prstGeom prst="line">
            <a:avLst/>
          </a:prstGeom>
          <a:noFill/>
          <a:ln w="1397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1874520"/>
            <a:ext cx="1444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418320" y="1874520"/>
            <a:ext cx="73152" cy="128016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2020824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회복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19488" y="2441448"/>
            <a:ext cx="104241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호흡·공기 상태 정비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28800" y="38862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828800" y="3886200"/>
            <a:ext cx="73152" cy="137160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1993392" y="403250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423160" y="4032504"/>
            <a:ext cx="3154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플레이어의 핵심 질문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029968" y="4453128"/>
            <a:ext cx="352958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“지금 숨을 쉬어도 되는가?”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“여기서 호흡을 확보할 것인가?”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“남은 호흡으로 다음 안전 지점까지 갈 수 있는가?”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38862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6355080" y="3886200"/>
            <a:ext cx="73152" cy="137160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519672" y="403250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9A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949440" y="4032504"/>
            <a:ext cx="3154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순환이 만드는 재미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556248" y="4453128"/>
            <a:ext cx="352958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관찰과 준비 → 긴장 속 실행 → 안전 지점 도달의 해소 → 재준비.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공간도 적 위치와 공기 상태에 따라 다른 판단을 요구함.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68680" y="5760720"/>
            <a:ext cx="10424160" cy="475488"/>
          </a:xfrm>
          <a:prstGeom prst="roundRect">
            <a:avLst>
              <a:gd name="adj" fmla="val 19231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097280" y="5916168"/>
            <a:ext cx="9966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4p는 플레이어 경험 루프를 설명하고, 11p 통합 플로우는 실제 시스템 판정 순서를 설명함.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플레이 화면과 HUD 구성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 화면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06</a:t>
            </a:r>
            <a:endParaRPr lang="en-US" sz="1100" dirty="0"/>
          </a:p>
        </p:txBody>
      </p:sp>
      <p:pic>
        <p:nvPicPr>
          <p:cNvPr id="9" name="Image 0" descr="/mnt/data/a_cinematic_moody_storybook_style_3d_cg_illustra_batch_2.png"/>
          <p:cNvPicPr>
            <a:picLocks noChangeAspect="1"/>
          </p:cNvPicPr>
          <p:nvPr/>
        </p:nvPicPr>
        <p:blipFill>
          <a:blip r:embed="rId3"/>
          <a:srcRect l="7050" r="7050"/>
          <a:stretch/>
        </p:blipFill>
        <p:spPr>
          <a:xfrm>
            <a:off x="566928" y="1097280"/>
            <a:ext cx="6629400" cy="4343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097280"/>
            <a:ext cx="6629400" cy="434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914400" y="1353312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051560" y="1490472"/>
            <a:ext cx="12801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68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1847088"/>
            <a:ext cx="1691640" cy="393192"/>
          </a:xfrm>
          <a:prstGeom prst="roundRect">
            <a:avLst>
              <a:gd name="adj" fmla="val 2325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051560" y="1965960"/>
            <a:ext cx="14173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숨 참기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34640" y="137160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AA6A1">
              <a:alpha val="92000"/>
            </a:srgbClr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880360" y="143103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소리 0m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26280" y="137160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B3551">
              <a:alpha val="92000"/>
            </a:srgbClr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572000" y="14310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시야 차단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57800" y="4956048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B99A55">
              <a:alpha val="92000"/>
            </a:srgbClr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303520" y="501548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타이밍 판단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120640" y="4846320"/>
            <a:ext cx="1005840" cy="0"/>
          </a:xfrm>
          <a:prstGeom prst="line">
            <a:avLst/>
          </a:prstGeom>
          <a:noFill/>
          <a:ln w="19050">
            <a:solidFill>
              <a:srgbClr val="B99A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7406640" y="1143000"/>
            <a:ext cx="1234440" cy="600891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434072" y="1188720"/>
            <a:ext cx="1179576" cy="52773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요소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41080" y="1143000"/>
            <a:ext cx="1600200" cy="600891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8668512" y="1188720"/>
            <a:ext cx="1545336" cy="52773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241280" y="1143000"/>
            <a:ext cx="1325880" cy="600891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0268712" y="1188720"/>
            <a:ext cx="1271016" cy="52773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조건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406640" y="1743891"/>
            <a:ext cx="123444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7434072" y="1798755"/>
            <a:ext cx="117957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게이지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641080" y="1743891"/>
            <a:ext cx="160020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8668512" y="1798755"/>
            <a:ext cx="154533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호흡 자원 확인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241280" y="1743891"/>
            <a:ext cx="132588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10268712" y="1798755"/>
            <a:ext cx="127101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존재 시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406640" y="2344783"/>
            <a:ext cx="123444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7434072" y="2399647"/>
            <a:ext cx="117957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호흡 상태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641080" y="2344783"/>
            <a:ext cx="160020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8668512" y="2399647"/>
            <a:ext cx="154533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평상/들숨/숨 참기/날숨 확인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0241280" y="2344783"/>
            <a:ext cx="132588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0268712" y="2399647"/>
            <a:ext cx="127101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행동 표시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406640" y="2945674"/>
            <a:ext cx="123444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7434072" y="3000538"/>
            <a:ext cx="117957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 게이지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641080" y="2945674"/>
            <a:ext cx="160020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8668512" y="3000538"/>
            <a:ext cx="154533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이상 위험 확인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241280" y="2945674"/>
            <a:ext cx="132588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10268712" y="3000538"/>
            <a:ext cx="127101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 1 이상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406640" y="3546566"/>
            <a:ext cx="123444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4"/>
          <p:cNvSpPr/>
          <p:nvPr/>
        </p:nvSpPr>
        <p:spPr>
          <a:xfrm>
            <a:off x="7434072" y="3601430"/>
            <a:ext cx="117957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 게이지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641080" y="3546566"/>
            <a:ext cx="160020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8668512" y="3601430"/>
            <a:ext cx="154533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이상·사망 위험 확인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0241280" y="3546566"/>
            <a:ext cx="132588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8"/>
          <p:cNvSpPr/>
          <p:nvPr/>
        </p:nvSpPr>
        <p:spPr>
          <a:xfrm>
            <a:off x="10268712" y="3601430"/>
            <a:ext cx="127101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 1 이상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06640" y="4147457"/>
            <a:ext cx="123444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0"/>
          <p:cNvSpPr/>
          <p:nvPr/>
        </p:nvSpPr>
        <p:spPr>
          <a:xfrm>
            <a:off x="7434072" y="4202321"/>
            <a:ext cx="117957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표시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641080" y="4147457"/>
            <a:ext cx="160020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8668512" y="4202321"/>
            <a:ext cx="154533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기침·이속 감소 확인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10241280" y="4147457"/>
            <a:ext cx="1325880" cy="600891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4"/>
          <p:cNvSpPr/>
          <p:nvPr/>
        </p:nvSpPr>
        <p:spPr>
          <a:xfrm>
            <a:off x="10268712" y="4202321"/>
            <a:ext cx="127101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발생 시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406640" y="4748349"/>
            <a:ext cx="123444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6"/>
          <p:cNvSpPr/>
          <p:nvPr/>
        </p:nvSpPr>
        <p:spPr>
          <a:xfrm>
            <a:off x="7434072" y="4803213"/>
            <a:ext cx="117957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튜토리얼 안내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8641080" y="4748349"/>
            <a:ext cx="160020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8"/>
          <p:cNvSpPr/>
          <p:nvPr/>
        </p:nvSpPr>
        <p:spPr>
          <a:xfrm>
            <a:off x="8668512" y="4803213"/>
            <a:ext cx="154533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조작 학습 보조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10241280" y="4748349"/>
            <a:ext cx="1325880" cy="600891"/>
          </a:xfrm>
          <a:prstGeom prst="rect">
            <a:avLst/>
          </a:prstGeom>
          <a:solidFill>
            <a:srgbClr val="F6F3EA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0"/>
          <p:cNvSpPr/>
          <p:nvPr/>
        </p:nvSpPr>
        <p:spPr>
          <a:xfrm>
            <a:off x="10268712" y="4803213"/>
            <a:ext cx="1271016" cy="5185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튜토리얼 상황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85800" y="5742432"/>
            <a:ext cx="10744200" cy="411480"/>
          </a:xfrm>
          <a:prstGeom prst="roundRect">
            <a:avLst>
              <a:gd name="adj" fmla="val 22222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2"/>
          <p:cNvSpPr/>
          <p:nvPr/>
        </p:nvSpPr>
        <p:spPr>
          <a:xfrm>
            <a:off x="914400" y="5861304"/>
            <a:ext cx="103327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벽으로 시야를 피하더라도 가까운 적에게는 호흡 소리가 들릴 수 있으므로, 플레이어는 숨을 참고 이동 타이밍을 판단함.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행동 규칙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규칙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024128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플레이어는 들숨으로 호흡량을 확보하고, 숨 참기로 소리와 위험 공기 흡입을 차단하며, 날숨으로 평상 호흡에 복귀함.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160020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61777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1691640"/>
            <a:ext cx="14081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호흡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95728" y="1892808"/>
            <a:ext cx="758952" cy="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2A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319272" y="1691640"/>
            <a:ext cx="14081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18888" y="1892808"/>
            <a:ext cx="758952" cy="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669280" y="160020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657F9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742432" y="1691640"/>
            <a:ext cx="14081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2048" y="1892808"/>
            <a:ext cx="758952" cy="0"/>
          </a:xfrm>
          <a:prstGeom prst="line">
            <a:avLst/>
          </a:prstGeom>
          <a:noFill/>
          <a:ln w="1524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B99A5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165592" y="1691640"/>
            <a:ext cx="14081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2194560"/>
            <a:ext cx="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463040" y="2423160"/>
            <a:ext cx="7680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흐름: 평상 → 들숨 → 숨 참기 → 날숨 → 평상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2788920"/>
            <a:ext cx="1188720" cy="45720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13232" y="2834640"/>
            <a:ext cx="1133856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2788920"/>
            <a:ext cx="1463040" cy="45720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901952" y="2834640"/>
            <a:ext cx="1408176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변화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2788920"/>
            <a:ext cx="1005840" cy="45720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364992" y="2834640"/>
            <a:ext cx="950976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2788920"/>
            <a:ext cx="1280160" cy="45720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370832" y="2834640"/>
            <a:ext cx="1225296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흡입 배율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23560" y="2788920"/>
            <a:ext cx="2286000" cy="45720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50992" y="2834640"/>
            <a:ext cx="2231136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역할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32461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13232" y="3300984"/>
            <a:ext cx="113385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호흡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324612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901952" y="3300984"/>
            <a:ext cx="14081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유지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37560" y="324612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364992" y="3300984"/>
            <a:ext cx="9509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43400" y="324612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370832" y="3300984"/>
            <a:ext cx="122529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×0.5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23560" y="324612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650992" y="3300984"/>
            <a:ext cx="223113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상태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3703320"/>
            <a:ext cx="118872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13232" y="3758184"/>
            <a:ext cx="113385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74520" y="3703320"/>
            <a:ext cx="146304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1901952" y="3758184"/>
            <a:ext cx="14081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+50/s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37560" y="3703320"/>
            <a:ext cx="100584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3364992" y="3758184"/>
            <a:ext cx="9509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43400" y="3703320"/>
            <a:ext cx="128016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370832" y="3758184"/>
            <a:ext cx="122529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×1.0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23560" y="3703320"/>
            <a:ext cx="228600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650992" y="3758184"/>
            <a:ext cx="223113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확보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" y="41605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13232" y="4215384"/>
            <a:ext cx="113385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874520" y="416052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1901952" y="4215384"/>
            <a:ext cx="14081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-10/s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337560" y="416052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3364992" y="4215384"/>
            <a:ext cx="9509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0m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343400" y="416052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370832" y="4215384"/>
            <a:ext cx="122529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23560" y="416052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5650992" y="4215384"/>
            <a:ext cx="223113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은신·흡입 차단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5800" y="4617720"/>
            <a:ext cx="118872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13232" y="4672584"/>
            <a:ext cx="113385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874520" y="4617720"/>
            <a:ext cx="146304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1901952" y="4672584"/>
            <a:ext cx="14081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-66.7/s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337560" y="4617720"/>
            <a:ext cx="100584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3364992" y="4672584"/>
            <a:ext cx="95097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7m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343400" y="4617720"/>
            <a:ext cx="128016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370832" y="4672584"/>
            <a:ext cx="122529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623560" y="4617720"/>
            <a:ext cx="2286000" cy="4572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5650992" y="4672584"/>
            <a:ext cx="2231136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호흡 복귀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183880" y="278892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8183880" y="2788920"/>
            <a:ext cx="73152" cy="141732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8385048" y="2935224"/>
            <a:ext cx="28437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시간 기준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8385048" y="3355848"/>
            <a:ext cx="2843784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호흡량 100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 2초 → 100 확보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 최대 10초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 최대 약 1.5초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183880" y="438912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8183880" y="4389120"/>
            <a:ext cx="73152" cy="155448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8385048" y="4535424"/>
            <a:ext cx="28437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날숨·자동 날숨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385048" y="4956048"/>
            <a:ext cx="2843784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날숨은 한 번 시작하면 호흡량 0까지 자동 진행. 진행 중 들숨·숨 참기 입력 시 해당 행동으로 즉시 전환. 들숨/숨 참기 키 해제 후 입력이 없으면 자동 날숨.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과흡입·강제 호흡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이벤트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호흡량의 상한·하한을 넘겨 조작을 유지하면 호흡 제어에 실패하고, 일정 시간 거친 호흡 상태에 진입함.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94560" y="2148840"/>
            <a:ext cx="7772400" cy="0"/>
          </a:xfrm>
          <a:prstGeom prst="line">
            <a:avLst/>
          </a:prstGeom>
          <a:noFill/>
          <a:ln w="38100">
            <a:solidFill>
              <a:srgbClr val="6177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011680" y="1993392"/>
            <a:ext cx="320040" cy="320040"/>
          </a:xfrm>
          <a:prstGeom prst="ellipse">
            <a:avLst/>
          </a:prstGeom>
          <a:solidFill>
            <a:srgbClr val="A45F5F"/>
          </a:solidFill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829800" y="1993392"/>
            <a:ext cx="320040" cy="320040"/>
          </a:xfrm>
          <a:prstGeom prst="ellipse">
            <a:avLst/>
          </a:prstGeom>
          <a:solidFill>
            <a:srgbClr val="A45F5F"/>
          </a:solidFill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029968" y="2395728"/>
            <a:ext cx="274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20072" y="2395728"/>
            <a:ext cx="502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74320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" y="2743200"/>
            <a:ext cx="73152" cy="1188720"/>
          </a:xfrm>
          <a:prstGeom prst="rect">
            <a:avLst/>
          </a:prstGeom>
          <a:solidFill>
            <a:srgbClr val="A45F5F"/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392" y="288950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88950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호흡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" y="3310128"/>
            <a:ext cx="3072384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0에서 숨 참기 1초 유지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0 상태에서 날숨 새 입력 1초 유지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274320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001000" y="2743200"/>
            <a:ext cx="73152" cy="1188720"/>
          </a:xfrm>
          <a:prstGeom prst="rect">
            <a:avLst/>
          </a:prstGeom>
          <a:solidFill>
            <a:srgbClr val="A45F5F"/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165592" y="288950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288950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과흡입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02168" y="3310128"/>
            <a:ext cx="3072384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100에서 들숨을 1초 이상 계속 유지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2971800"/>
            <a:ext cx="1645920" cy="32766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07992" y="3017520"/>
            <a:ext cx="1591056" cy="2545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결과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971800"/>
            <a:ext cx="1645920" cy="32766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153912" y="3017520"/>
            <a:ext cx="1591056" cy="2545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299460"/>
            <a:ext cx="1645920" cy="3276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507992" y="335432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지속시간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299460"/>
            <a:ext cx="1645920" cy="3276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153912" y="335432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3627120"/>
            <a:ext cx="1645920" cy="3276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507992" y="368198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조작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627120"/>
            <a:ext cx="1645920" cy="3276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153912" y="368198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3954780"/>
            <a:ext cx="1645920" cy="3276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507992" y="400964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반경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954780"/>
            <a:ext cx="1645920" cy="3276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153912" y="400964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4282440"/>
            <a:ext cx="1645920" cy="3276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507992" y="433730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공기 흡입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4282440"/>
            <a:ext cx="1645920" cy="3276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153912" y="433730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×1.5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80560" y="4610100"/>
            <a:ext cx="1645920" cy="3276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507992" y="466496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4610100"/>
            <a:ext cx="1645920" cy="3276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153912" y="4664964"/>
            <a:ext cx="1591056" cy="245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0 / 평상 호흡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68680" y="5623560"/>
            <a:ext cx="10469880" cy="502920"/>
          </a:xfrm>
          <a:prstGeom prst="roundRect">
            <a:avLst>
              <a:gd name="adj" fmla="val 18182"/>
            </a:avLst>
          </a:prstGeom>
          <a:solidFill>
            <a:srgbClr val="F7EDEB"/>
          </a:solidFill>
          <a:ln w="12700">
            <a:solidFill>
              <a:srgbClr val="F1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051560" y="5779008"/>
            <a:ext cx="1010412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상·하한 도달 직후 1초의 유예시간을 두어 순간적인 입력 실수를 허용하고, 조작을 지속했을 때만 실패 이벤트를 발생시킴.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환경 및 수중 규칙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87552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환경에 따라 호흡 행동의 위험도가 달라지며, 수중에서는 호흡량 자체가 생존 자원으로 전환됨.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86968" y="1563624"/>
            <a:ext cx="22951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공기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1984248"/>
            <a:ext cx="229514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 -20/s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 -40/s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회복 가능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14173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611880" y="1417320"/>
            <a:ext cx="73152" cy="114300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813048" y="1563624"/>
            <a:ext cx="22951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공기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13048" y="1984248"/>
            <a:ext cx="229514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먼지 / 꽃가루 / 일반 연기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자극도 +20/s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 도달 시 자극 이상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4173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37960" y="1417320"/>
            <a:ext cx="73152" cy="114300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39128" y="1563624"/>
            <a:ext cx="22951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 공기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39128" y="1984248"/>
            <a:ext cx="229514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독가스: 오염도 +25/s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 연기: 오염도 +25/s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이상 이상 / 100 사망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64040" y="141732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464040" y="1417320"/>
            <a:ext cx="73152" cy="114300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665208" y="1563624"/>
            <a:ext cx="16550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65208" y="1984248"/>
            <a:ext cx="165506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-10/s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 입력 시 -100/s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0 → 익사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자극·오염은 고정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2907792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4400" y="3090672"/>
            <a:ext cx="5166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공기 누적량 = 환경 기본 누적량 × 호흡 행동 배율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0" y="3163824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61777A">
              <a:alpha val="92000"/>
            </a:srgbClr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46520" y="322326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×0.5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0" y="3163824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2AA6A1">
              <a:alpha val="92000"/>
            </a:srgbClr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543800" y="32232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 ×1.0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49640" y="3163824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657F95">
              <a:alpha val="92000"/>
            </a:srgbClr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595360" y="322326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 ×0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46920" y="3163824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B99A55">
              <a:alpha val="92000"/>
            </a:srgbClr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692640" y="32232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 ×0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625328" y="3163824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A45F5F">
              <a:alpha val="92000"/>
            </a:srgbClr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671048" y="322326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과흡입·강제 호흡 ×1.5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397764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85800" y="3977640"/>
            <a:ext cx="73152" cy="141732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6968" y="4123944"/>
            <a:ext cx="48097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예시: 먼지 +20/s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86968" y="4544568"/>
            <a:ext cx="4809744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호흡: 20 × 0.5 = +10/s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들숨: 20 × 1.0 = +20/s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참기·날숨: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호흡: 20 × 1.5 = +30/s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3977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263640" y="3977640"/>
            <a:ext cx="73152" cy="1417320"/>
          </a:xfrm>
          <a:prstGeom prst="rect">
            <a:avLst/>
          </a:prstGeom>
          <a:solidFill>
            <a:srgbClr val="61777A"/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64808" y="4123944"/>
            <a:ext cx="48554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중첩 규칙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64808" y="4544568"/>
            <a:ext cx="4855464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종류가 겹치면 자극도·오염도 각각 독립 누적.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종류의 위험원이 겹치면 가장 높은 누적량 하나만 적용.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8680" y="5806440"/>
            <a:ext cx="10424160" cy="429768"/>
          </a:xfrm>
          <a:prstGeom prst="roundRect">
            <a:avLst>
              <a:gd name="adj" fmla="val 21277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97280" y="5943600"/>
            <a:ext cx="99669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8p는 “무엇이 얼마나 쌓이는가”를 설명하고, 9p는 누적 결과로 발생하는 이상 상태를 설명함.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자극도·오염도 및 이상 상태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87552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공기를 흡입하면 자극도 또는 오염도가 누적되며, 임계치 도달 시 호흡 조작이 제한되는 이상 상태가 발생함.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73152" cy="96012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86968" y="1563624"/>
            <a:ext cx="27980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1984248"/>
            <a:ext cx="279806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먼지·꽃가루·일반 연기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0~100 누적 / 사망 없음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2743200" cy="0"/>
          </a:xfrm>
          <a:prstGeom prst="line">
            <a:avLst/>
          </a:prstGeom>
          <a:noFill/>
          <a:ln w="63500">
            <a:solidFill>
              <a:srgbClr val="B99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2944368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944368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944368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80360" y="2560320"/>
            <a:ext cx="0" cy="457200"/>
          </a:xfrm>
          <a:prstGeom prst="line">
            <a:avLst/>
          </a:prstGeom>
          <a:noFill/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11880" y="2560320"/>
            <a:ext cx="0" cy="457200"/>
          </a:xfrm>
          <a:prstGeom prst="line">
            <a:avLst/>
          </a:prstGeom>
          <a:noFill/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33172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해제 기준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≤80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이상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75320" y="141732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275320" y="1417320"/>
            <a:ext cx="73152" cy="96012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476488" y="1563624"/>
            <a:ext cx="27980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76488" y="1984248"/>
            <a:ext cx="279806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독가스·유해 연기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0~100 누적 / 100 사망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58200" y="2788920"/>
            <a:ext cx="2743200" cy="0"/>
          </a:xfrm>
          <a:prstGeom prst="line">
            <a:avLst/>
          </a:prstGeom>
          <a:noFill/>
          <a:ln w="63500">
            <a:solidFill>
              <a:srgbClr val="7087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412480" y="2944368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38360" y="2944368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27080" y="2944368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66960" y="2560320"/>
            <a:ext cx="0" cy="457200"/>
          </a:xfrm>
          <a:prstGeom prst="line">
            <a:avLst/>
          </a:prstGeom>
          <a:noFill/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1201400" y="2560320"/>
            <a:ext cx="0" cy="457200"/>
          </a:xfrm>
          <a:prstGeom prst="line">
            <a:avLst/>
          </a:prstGeom>
          <a:noFill/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60120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이상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27080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15968" y="15087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315968" y="1508760"/>
            <a:ext cx="73152" cy="214884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17136" y="1655064"/>
            <a:ext cx="31638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공통 효과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17136" y="2075688"/>
            <a:ext cx="3163824" cy="1435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기침 / 1초마다 소리 1회 / 반경 10m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이동속도 50% / 호흡 조작 불가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시스템상 평상 호흡, 위험 공기 ×0.5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-50/s → 0, 추가 페널티 없음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15968" y="3977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315968" y="3977640"/>
            <a:ext cx="73152" cy="1234440"/>
          </a:xfrm>
          <a:prstGeom prst="rect">
            <a:avLst/>
          </a:prstGeom>
          <a:solidFill>
            <a:srgbClr val="A45F5F"/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517136" y="4123944"/>
            <a:ext cx="31638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이상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517136" y="4544568"/>
            <a:ext cx="3163824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이상 + 오염 이상 동시 발생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기침은 중복 없음 / 이동속도 35%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게이지는 각각 독립 회복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" y="5806440"/>
            <a:ext cx="10332720" cy="502920"/>
          </a:xfrm>
          <a:prstGeom prst="roundRect">
            <a:avLst>
              <a:gd name="adj" fmla="val 18182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097280" y="5961888"/>
            <a:ext cx="9966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회복: 안전 공기에서 자극도 -20/s, 오염도 -40/s · 자극 이상은 80 이하 해제, 오염 이상은 0에서 해제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인형 감지 시스템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87552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인형은 시야와 소리를 통해 플레이어를 감지하며, 행동 소리 반경과 인형 청각 특성에 따라 실제 감지 거리가 달라짐.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1691640" cy="333103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3232" y="1508760"/>
            <a:ext cx="1636776" cy="2599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행동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463040"/>
            <a:ext cx="1143000" cy="333103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04872" y="1508760"/>
            <a:ext cx="1088136" cy="2599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반경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1796143"/>
            <a:ext cx="1691640" cy="333103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13232" y="1851007"/>
            <a:ext cx="163677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1796143"/>
            <a:ext cx="1143000" cy="333103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404872" y="1851007"/>
            <a:ext cx="108813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129246"/>
            <a:ext cx="1691640" cy="333103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" y="2184110"/>
            <a:ext cx="163677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호흡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129246"/>
            <a:ext cx="1143000" cy="333103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404872" y="2184110"/>
            <a:ext cx="108813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2462349"/>
            <a:ext cx="1691640" cy="333103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" y="2517213"/>
            <a:ext cx="163677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2462349"/>
            <a:ext cx="1143000" cy="333103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404872" y="2517213"/>
            <a:ext cx="108813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2795451"/>
            <a:ext cx="1691640" cy="333103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2850315"/>
            <a:ext cx="163677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2795451"/>
            <a:ext cx="1143000" cy="333103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404872" y="2850315"/>
            <a:ext cx="108813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3128554"/>
            <a:ext cx="1691640" cy="333103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13232" y="3183418"/>
            <a:ext cx="163677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과흡입·강제 호흡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3128554"/>
            <a:ext cx="1143000" cy="333103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404872" y="3183418"/>
            <a:ext cx="108813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461657"/>
            <a:ext cx="1691640" cy="333103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13232" y="3516521"/>
            <a:ext cx="163677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기침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461657"/>
            <a:ext cx="1143000" cy="333103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404872" y="3516521"/>
            <a:ext cx="1088136" cy="2508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4069080"/>
            <a:ext cx="1691640" cy="228600"/>
          </a:xfrm>
          <a:prstGeom prst="rect">
            <a:avLst/>
          </a:prstGeom>
          <a:solidFill>
            <a:srgbClr val="61777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13232" y="4114800"/>
            <a:ext cx="1636776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행동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77440" y="4069080"/>
            <a:ext cx="1143000" cy="228600"/>
          </a:xfrm>
          <a:prstGeom prst="rect">
            <a:avLst/>
          </a:prstGeom>
          <a:solidFill>
            <a:srgbClr val="61777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404872" y="4114800"/>
            <a:ext cx="1088136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반경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4297680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713232" y="4352544"/>
            <a:ext cx="1636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웅크려 이동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77440" y="4297680"/>
            <a:ext cx="1143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2404872" y="4352544"/>
            <a:ext cx="10881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" y="4526280"/>
            <a:ext cx="1691640" cy="2286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13232" y="4581144"/>
            <a:ext cx="1636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걷기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4526280"/>
            <a:ext cx="1143000" cy="2286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404872" y="4581144"/>
            <a:ext cx="10881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5800" y="4754880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713232" y="4809744"/>
            <a:ext cx="1636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사다리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377440" y="4754880"/>
            <a:ext cx="1143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2404872" y="4809744"/>
            <a:ext cx="10881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4983480"/>
            <a:ext cx="1691640" cy="2286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13232" y="5038344"/>
            <a:ext cx="1636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수영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377440" y="4983480"/>
            <a:ext cx="1143000" cy="2286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2404872" y="5038344"/>
            <a:ext cx="10881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5800" y="5212080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713232" y="5266944"/>
            <a:ext cx="1636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달리기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377440" y="5212080"/>
            <a:ext cx="1143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2404872" y="5266944"/>
            <a:ext cx="10881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7m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800" y="5440680"/>
            <a:ext cx="1691640" cy="2286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713232" y="5495544"/>
            <a:ext cx="1636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점프 착지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377440" y="5440680"/>
            <a:ext cx="1143000" cy="2286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2404872" y="5495544"/>
            <a:ext cx="10881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5800" y="5669280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713232" y="5724144"/>
            <a:ext cx="1636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숨참기+웅크림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377440" y="5669280"/>
            <a:ext cx="1143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2404872" y="5724144"/>
            <a:ext cx="10881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0m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840480" y="146304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3840480" y="1463040"/>
            <a:ext cx="73152" cy="178308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4005072" y="160934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ƒ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4434840" y="1609344"/>
            <a:ext cx="3200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 소리 감지 거리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4041648" y="2029968"/>
            <a:ext cx="3575304" cy="1069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min(행동 소리 반경 × 청각 민감도, 최대 청각 거리)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눈 없는 인형 기침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min(10m × 1.5, 14m) = 14m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092440" y="1463040"/>
            <a:ext cx="1143000" cy="381000"/>
          </a:xfrm>
          <a:prstGeom prst="rect">
            <a:avLst/>
          </a:prstGeom>
          <a:solidFill>
            <a:srgbClr val="70876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8119872" y="1508760"/>
            <a:ext cx="1088136" cy="307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인형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235440" y="1463040"/>
            <a:ext cx="868680" cy="381000"/>
          </a:xfrm>
          <a:prstGeom prst="rect">
            <a:avLst/>
          </a:prstGeom>
          <a:solidFill>
            <a:srgbClr val="70876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9262872" y="1508760"/>
            <a:ext cx="813816" cy="307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시야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0104120" y="1463040"/>
            <a:ext cx="658368" cy="381000"/>
          </a:xfrm>
          <a:prstGeom prst="rect">
            <a:avLst/>
          </a:prstGeom>
          <a:solidFill>
            <a:srgbClr val="70876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10131552" y="1508760"/>
            <a:ext cx="603504" cy="307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청각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0762488" y="1463040"/>
            <a:ext cx="658368" cy="381000"/>
          </a:xfrm>
          <a:prstGeom prst="rect">
            <a:avLst/>
          </a:prstGeom>
          <a:solidFill>
            <a:srgbClr val="70876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10789920" y="1508760"/>
            <a:ext cx="603504" cy="307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092440" y="1844040"/>
            <a:ext cx="11430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8119872" y="1898904"/>
            <a:ext cx="1088136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인형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9235440" y="1844040"/>
            <a:ext cx="86868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9262872" y="1898904"/>
            <a:ext cx="813816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/ 90°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0104120" y="1844040"/>
            <a:ext cx="658368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/>
          <p:nvPr/>
        </p:nvSpPr>
        <p:spPr>
          <a:xfrm>
            <a:off x="10131552" y="1898904"/>
            <a:ext cx="603504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×1.0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10762488" y="1844040"/>
            <a:ext cx="658368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10789920" y="1898904"/>
            <a:ext cx="603504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10m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092440" y="2225040"/>
            <a:ext cx="1143000" cy="3810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8119872" y="2279904"/>
            <a:ext cx="1088136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 없는 인형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9235440" y="2225040"/>
            <a:ext cx="868680" cy="3810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/>
          <p:nvPr/>
        </p:nvSpPr>
        <p:spPr>
          <a:xfrm>
            <a:off x="9262872" y="2279904"/>
            <a:ext cx="813816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10104120" y="2225040"/>
            <a:ext cx="658368" cy="3810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/>
          <p:nvPr/>
        </p:nvSpPr>
        <p:spPr>
          <a:xfrm>
            <a:off x="10131552" y="2279904"/>
            <a:ext cx="603504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×1.5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10762488" y="2225040"/>
            <a:ext cx="658368" cy="38100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10789920" y="2279904"/>
            <a:ext cx="603504" cy="29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14m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3840480" y="3566160"/>
            <a:ext cx="3977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98"/>
          <p:cNvSpPr/>
          <p:nvPr/>
        </p:nvSpPr>
        <p:spPr>
          <a:xfrm>
            <a:off x="406908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반경 예시</a:t>
            </a:r>
            <a:endParaRPr lang="en-US" sz="1800" dirty="0"/>
          </a:p>
        </p:txBody>
      </p:sp>
      <p:sp>
        <p:nvSpPr>
          <p:cNvPr id="101" name="Text 99"/>
          <p:cNvSpPr/>
          <p:nvPr/>
        </p:nvSpPr>
        <p:spPr>
          <a:xfrm>
            <a:off x="4069080" y="4251960"/>
            <a:ext cx="685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4846320" y="4288536"/>
            <a:ext cx="0" cy="9144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/>
          <p:nvPr/>
        </p:nvSpPr>
        <p:spPr>
          <a:xfrm>
            <a:off x="6949440" y="425196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7F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0m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069080" y="4663440"/>
            <a:ext cx="685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4846320" y="4700016"/>
            <a:ext cx="804672" cy="9144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104"/>
          <p:cNvSpPr/>
          <p:nvPr/>
        </p:nvSpPr>
        <p:spPr>
          <a:xfrm>
            <a:off x="6949440" y="466344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4m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4069080" y="5074920"/>
            <a:ext cx="685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기침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4846320" y="5111496"/>
            <a:ext cx="2011680" cy="91440"/>
          </a:xfrm>
          <a:prstGeom prst="rect">
            <a:avLst/>
          </a:prstGeom>
          <a:solidFill>
            <a:srgbClr val="A45F5F"/>
          </a:solidFill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107"/>
          <p:cNvSpPr/>
          <p:nvPr/>
        </p:nvSpPr>
        <p:spPr>
          <a:xfrm>
            <a:off x="6949440" y="507492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10m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092440" y="3017520"/>
            <a:ext cx="33375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8092440" y="3017520"/>
            <a:ext cx="73152" cy="201168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Text 110"/>
          <p:cNvSpPr/>
          <p:nvPr/>
        </p:nvSpPr>
        <p:spPr>
          <a:xfrm>
            <a:off x="8293608" y="3163824"/>
            <a:ext cx="29352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 뒤 은신의 의미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8293608" y="3584448"/>
            <a:ext cx="2935224" cy="1298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벽은 시야를 차단하지만 소리는 남을 수 있음.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 = 호흡 소리 0m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따라서 “시야 회피 + 호흡 제어”가 함께 필요함.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플로우 + 환경 플로우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플로우차트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078992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플로우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0B3551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50392" y="160020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입력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50876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2AA6A1"/>
          </a:solidFill>
          <a:ln w="12700">
            <a:solidFill>
              <a:srgbClr val="2A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96312" y="1600200"/>
            <a:ext cx="117957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행동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764792"/>
            <a:ext cx="411480" cy="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68680" y="251460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657F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41832" y="260604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251460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9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587752" y="260604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251460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7087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233672" y="260604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90672" y="2011680"/>
            <a:ext cx="0" cy="50292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090672" y="2011680"/>
            <a:ext cx="36576" cy="50292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090672" y="2011680"/>
            <a:ext cx="1682496" cy="50292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68680" y="34747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41832" y="356616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과흡입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호흡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81328" y="3017520"/>
            <a:ext cx="0" cy="45720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514600" y="34747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587752" y="356616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청각 판정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27248" y="3017520"/>
            <a:ext cx="0" cy="45720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160520" y="34747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7087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233672" y="356616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자극도·오염도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3017520"/>
            <a:ext cx="0" cy="45720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160520" y="443484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233672" y="452628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3977640"/>
            <a:ext cx="0" cy="45720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160520" y="539496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A45F5F"/>
          </a:solidFill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233672" y="5486400"/>
            <a:ext cx="108813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4937760"/>
            <a:ext cx="0" cy="45720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46520" y="1078992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플로우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720840" y="150876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0B3551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793992" y="1600200"/>
            <a:ext cx="1179576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환경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12480" y="114300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A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485632" y="1234440"/>
            <a:ext cx="245973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공기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-20/s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-40/s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46720" y="1755648"/>
            <a:ext cx="365760" cy="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412480" y="205740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99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485632" y="2148840"/>
            <a:ext cx="24597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공기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 누적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 → 이상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46720" y="1755648"/>
            <a:ext cx="365760" cy="658368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412480" y="3127248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7087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485632" y="3218688"/>
            <a:ext cx="245973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 공기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 누적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→ 이상 / 100 → 사망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46720" y="1755648"/>
            <a:ext cx="365760" cy="1773936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412480" y="4407408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657F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485632" y="4498848"/>
            <a:ext cx="245973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자극·오염 고정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-10/s / 0 → 익사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46720" y="1755648"/>
            <a:ext cx="365760" cy="3054096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85800" y="6144768"/>
            <a:ext cx="10789920" cy="228600"/>
          </a:xfrm>
          <a:prstGeom prst="roundRect">
            <a:avLst>
              <a:gd name="adj" fmla="val 40000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960120" y="6190488"/>
            <a:ext cx="1024128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행동 하나가 호흡량·소리·환경 영향을 동시에 만들고, 그 결과가 적 감지와 이상 상태로 연결됨.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레퍼런스 — DEATH STRANDING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4663440" cy="2926080"/>
          </a:xfrm>
          <a:prstGeom prst="roundRect">
            <a:avLst>
              <a:gd name="adj" fmla="val 3125"/>
            </a:avLst>
          </a:prstGeom>
          <a:solidFill>
            <a:srgbClr val="19222C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4114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BT 구간 숨 참기</a:t>
            </a:r>
            <a:br/>
            <a:r>
              <a:t>스크린샷 삽입 영역</a:t>
            </a:r>
            <a:endParaRPr lang="en-US" sz="1800" dirty="0"/>
          </a:p>
          <a:p>
            <a:pPr algn="ctr">
              <a:defRPr sz="950">
                <a:solidFill>
                  <a:srgbClr val="D5DEE1"/>
                </a:solidFill>
                <a:latin typeface="Pretendard"/>
              </a:defRPr>
            </a:pPr>
            <a:r>
              <a:t>공식 후보: Kojima Productions Tips의 BT 에어리어 이미지</a:t>
            </a:r>
            <a:br/>
            <a:r>
              <a:t>실제 제작 시 권리 확인 후 게임 화면으로 교체</a:t>
            </a:r>
          </a:p>
        </p:txBody>
      </p:sp>
      <p:sp>
        <p:nvSpPr>
          <p:cNvPr id="11" name="Text 9"/>
          <p:cNvSpPr/>
          <p:nvPr/>
        </p:nvSpPr>
        <p:spPr>
          <a:xfrm>
            <a:off x="1051560" y="3017520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  <a:defRPr sz="950">
                <a:solidFill>
                  <a:srgbClr val="D5DEE1"/>
                </a:solidFill>
                <a:latin typeface="Pretendard"/>
              </a:defRPr>
            </a:pPr>
            <a:r>
              <a:t>공식 이미지 후보 확인: Kojima Productions 「『DEATH STRANDING』序盤Tips」 BTエリア 이미지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85800" y="4343400"/>
            <a:ext cx="73152" cy="146304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86968" y="4489704"/>
            <a:ext cx="426110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참고한 핵심 경험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" y="4910328"/>
            <a:ext cx="4261104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적의 위치를 확인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가까이 접근하면 숨을 참고 이동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제한된 시간 안에 위험 구간 통과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2743200"/>
            <a:ext cx="731520" cy="0"/>
          </a:xfrm>
          <a:prstGeom prst="line">
            <a:avLst/>
          </a:prstGeom>
          <a:noFill/>
          <a:ln w="25400">
            <a:solidFill>
              <a:srgbClr val="2AA6A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0" y="114300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0800" y="1143000"/>
            <a:ext cx="73152" cy="169164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01968" y="1289304"/>
            <a:ext cx="46725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시스템의 확장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01968" y="1709928"/>
            <a:ext cx="4672584" cy="978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숨 참기 → 전체 호흡 행동 관리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적 감지 → 위험 공기·수중까지 연결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순간 행동 → 사전 준비 자원화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고정 위험 → 환기·불 인형 등 환경 변화로 확장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246120"/>
            <a:ext cx="1143000" cy="37338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28232" y="3291840"/>
            <a:ext cx="1088136" cy="3002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항목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3246120"/>
            <a:ext cx="1783080" cy="37338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571232" y="3291840"/>
            <a:ext cx="1728216" cy="3002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DEATH STRANDING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0" y="3246120"/>
            <a:ext cx="2148840" cy="37338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354312" y="3291840"/>
            <a:ext cx="2093976" cy="3002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호흡 시스템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619500"/>
            <a:ext cx="114300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28232" y="3674364"/>
            <a:ext cx="108813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행동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3619500"/>
            <a:ext cx="178308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571232" y="3674364"/>
            <a:ext cx="172821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 + 느린 이동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26880" y="3619500"/>
            <a:ext cx="21488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54312" y="3674364"/>
            <a:ext cx="209397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들숨·숨 참기·날숨 전체 제어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3992880"/>
            <a:ext cx="1143000" cy="37338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28232" y="4047744"/>
            <a:ext cx="108813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목적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43800" y="3992880"/>
            <a:ext cx="1783080" cy="37338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571232" y="4047744"/>
            <a:ext cx="172821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 감지 회피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26880" y="3992880"/>
            <a:ext cx="2148840" cy="37338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354312" y="4047744"/>
            <a:ext cx="209397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 감지 + 환경 대응 + 수중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4366260"/>
            <a:ext cx="114300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28232" y="4421124"/>
            <a:ext cx="108813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자원 관리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43800" y="4366260"/>
            <a:ext cx="178308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571232" y="4421124"/>
            <a:ext cx="172821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숨 참기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326880" y="4366260"/>
            <a:ext cx="21488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9354312" y="4421124"/>
            <a:ext cx="209397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0~100 확보·소비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4739640"/>
            <a:ext cx="1143000" cy="37338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28232" y="4794504"/>
            <a:ext cx="108813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연결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43800" y="4739640"/>
            <a:ext cx="1783080" cy="37338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571232" y="4794504"/>
            <a:ext cx="172821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 회피 상황 중심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326880" y="4739640"/>
            <a:ext cx="2148840" cy="37338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354312" y="4794504"/>
            <a:ext cx="209397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자극·유해 공기·수중 결합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5113020"/>
            <a:ext cx="114300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428232" y="5167884"/>
            <a:ext cx="108813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확장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43800" y="5113020"/>
            <a:ext cx="178308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571232" y="5167884"/>
            <a:ext cx="172821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 은신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326880" y="5113020"/>
            <a:ext cx="21488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9354312" y="5167884"/>
            <a:ext cx="2093976" cy="291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인형·위장·환기·불 인형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5733288"/>
            <a:ext cx="4983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기준: 참고 → 확장 → 차별화. 우열이 아니라 시스템 구조 차이를 설명함.</a:t>
            </a:r>
            <a:endParaRPr lang="en-US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685800" y="63550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30">
                <a:solidFill>
                  <a:srgbClr val="61777A"/>
                </a:solidFill>
                <a:latin typeface="Pretendard"/>
              </a:defRPr>
            </a:pPr>
            <a:r>
              <a:t>스크린샷 후보: Kojima Productions 공식 Tips 페이지의 BT 에어리어 이미지 / 실제 삽입 전 사용 권리 확인 필요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1298448"/>
            <a:ext cx="4754880" cy="2834640"/>
          </a:xfrm>
          <a:prstGeom prst="roundRect">
            <a:avLst/>
          </a:prstGeom>
          <a:solidFill>
            <a:srgbClr val="182430"/>
          </a:solidFill>
          <a:ln w="15240">
            <a:solidFill>
              <a:srgbClr val="09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" y="2103120"/>
            <a:ext cx="43891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rPr sz="2000" b="1">
                <a:solidFill>
                  <a:srgbClr val="FFFFFF"/>
                </a:solidFill>
                <a:latin typeface="Pretendard"/>
              </a:rPr>
              <a:t>BT 구간 숨 참기</a:t>
            </a:r>
            <a:br/>
            <a:r>
              <a:rPr sz="2000" b="1">
                <a:solidFill>
                  <a:srgbClr val="FFFFFF"/>
                </a:solidFill>
                <a:latin typeface="Pretendard"/>
              </a:rPr>
              <a:t>스크린샷 삽입 영역</a:t>
            </a:r>
          </a:p>
          <a:p>
            <a:pPr algn="ctr">
              <a:defRPr sz="950">
                <a:solidFill>
                  <a:srgbClr val="D4DEE1"/>
                </a:solidFill>
                <a:latin typeface="Pretendard"/>
              </a:defRPr>
            </a:pPr>
            <a:r>
              <a:t>공식 후보: Kojima Productions 공식 Tips 페이지의 BT 에어리어 이미지</a:t>
            </a:r>
          </a:p>
          <a:p>
            <a:pPr algn="ctr">
              <a:defRPr sz="950">
                <a:solidFill>
                  <a:srgbClr val="D4DEE1"/>
                </a:solidFill>
                <a:latin typeface="Pretendard"/>
              </a:defRPr>
            </a:pPr>
            <a:r>
              <a:t>실제 제작 시 사용 권리 확인 후 게임 화면으로 교체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응용 사례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호흡 규칙이 적의 감지 방식, 위장, 환경 변화에 따라 서로 다른 플레이 판단으로 확장됨.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50392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57F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65506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 없는 인형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2075688"/>
            <a:ext cx="4672584" cy="978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규칙: 숨 참기 → 호흡 소리 0m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응용: 숨 참기 + 웅크려 이동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무소음 이동으로 청각 특화 적 통과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73152" cy="169164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336792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9A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165506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73368" y="2075688"/>
            <a:ext cx="4672584" cy="978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규칙: 외형 판별과 소리 판별 분리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응용: 위장 착용 + 호흡 소리 제어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인형 무리 사이에서 인간임을 숨김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85800" y="3703320"/>
            <a:ext cx="73152" cy="169164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50392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87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84962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환기 장치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6968" y="4270248"/>
            <a:ext cx="4672584" cy="978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규칙: 안전 공기에서 게이지 회복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응용: 유해 공기 → 안전 공기 영구 전환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공간 자체를 호흡 가능한 구역으로 변경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172200" y="3703320"/>
            <a:ext cx="73152" cy="1691640"/>
          </a:xfrm>
          <a:prstGeom prst="rect">
            <a:avLst/>
          </a:prstGeom>
          <a:solidFill>
            <a:srgbClr val="A45F5F"/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336792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384962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 인형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73368" y="4270248"/>
            <a:ext cx="4672584" cy="978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규칙: 공기 종류에 따라 누적 게이지 변화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응용: 1~2단계 일반 연기, 3단계 유해 연기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시간에 따라 호흡 전략 변경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5989320"/>
            <a:ext cx="10424160" cy="411480"/>
          </a:xfrm>
          <a:prstGeom prst="roundRect">
            <a:avLst>
              <a:gd name="adj" fmla="val 22222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97280" y="6117336"/>
            <a:ext cx="996696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호흡 규칙을 유지하면서 적·환경·콘텐츠 조건을 달리해 플레이 방식의 변화를 만듦.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맵 적용 예시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 적용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15</a:t>
            </a:r>
            <a:endParaRPr lang="en-US" sz="1100" dirty="0"/>
          </a:p>
        </p:txBody>
      </p:sp>
      <p:pic>
        <p:nvPicPr>
          <p:cNvPr id="9" name="Image 0" descr="/mnt/data/a_top_down_overhead_map_illustration_of_an_interio_batch_3.png"/>
          <p:cNvPicPr>
            <a:picLocks noChangeAspect="1"/>
          </p:cNvPicPr>
          <p:nvPr/>
        </p:nvPicPr>
        <p:blipFill>
          <a:blip r:embed="rId3"/>
          <a:srcRect l="6903" r="6903"/>
          <a:stretch/>
        </p:blipFill>
        <p:spPr>
          <a:xfrm>
            <a:off x="594360" y="1097280"/>
            <a:ext cx="7772400" cy="5074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097280"/>
            <a:ext cx="7772400" cy="50749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1005840" y="141732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2AA6A1">
              <a:alpha val="92000"/>
            </a:srgbClr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051560" y="14767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시작 안전 구역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0B3551">
              <a:alpha val="92000"/>
            </a:srgbClr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172200" y="18882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일반 인형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86200" y="301752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B99A55">
              <a:alpha val="92000"/>
            </a:srgbClr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931920" y="30769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자극 공기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55080" y="384048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657F95">
              <a:alpha val="92000"/>
            </a:srgbClr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0" y="3899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눈 없는 인형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12280" y="123444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2AA6A1">
              <a:alpha val="92000"/>
            </a:srgbClr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858000" y="12938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안전 지점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645920" y="4160520"/>
            <a:ext cx="1463040" cy="0"/>
          </a:xfrm>
          <a:prstGeom prst="line">
            <a:avLst/>
          </a:prstGeom>
          <a:noFill/>
          <a:ln w="25400">
            <a:solidFill>
              <a:srgbClr val="2AA6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3108960" y="3840480"/>
            <a:ext cx="1645920" cy="0"/>
          </a:xfrm>
          <a:prstGeom prst="line">
            <a:avLst/>
          </a:prstGeom>
          <a:noFill/>
          <a:ln w="25400">
            <a:solidFill>
              <a:srgbClr val="2AA6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4754880" y="3383280"/>
            <a:ext cx="1965960" cy="0"/>
          </a:xfrm>
          <a:prstGeom prst="line">
            <a:avLst/>
          </a:prstGeom>
          <a:noFill/>
          <a:ln w="25400">
            <a:solidFill>
              <a:srgbClr val="2AA6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8641080" y="1143000"/>
            <a:ext cx="411480" cy="62484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8668512" y="1188720"/>
            <a:ext cx="356616" cy="551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052560" y="1143000"/>
            <a:ext cx="960120" cy="62484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9079992" y="1188720"/>
            <a:ext cx="905256" cy="551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012680" y="1143000"/>
            <a:ext cx="1463040" cy="62484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0040112" y="1188720"/>
            <a:ext cx="1408176" cy="551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 판단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641080" y="1767840"/>
            <a:ext cx="41148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8668512" y="1822704"/>
            <a:ext cx="35661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052560" y="1767840"/>
            <a:ext cx="96012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9079992" y="1822704"/>
            <a:ext cx="90525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구역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012680" y="1767840"/>
            <a:ext cx="146304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10040112" y="1822704"/>
            <a:ext cx="140817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들숨으로 호흡량 확보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641080" y="2392680"/>
            <a:ext cx="411480" cy="62484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8668512" y="2447544"/>
            <a:ext cx="35661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052560" y="2392680"/>
            <a:ext cx="960120" cy="62484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9079992" y="2447544"/>
            <a:ext cx="90525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인형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012680" y="2392680"/>
            <a:ext cx="1463040" cy="62484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10040112" y="2447544"/>
            <a:ext cx="140817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 뒤 은신 + 숨 참기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641080" y="3017520"/>
            <a:ext cx="41148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8668512" y="3072384"/>
            <a:ext cx="35661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052560" y="3017520"/>
            <a:ext cx="96012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9079992" y="3072384"/>
            <a:ext cx="90525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공기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012680" y="3017520"/>
            <a:ext cx="146304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4"/>
          <p:cNvSpPr/>
          <p:nvPr/>
        </p:nvSpPr>
        <p:spPr>
          <a:xfrm>
            <a:off x="10040112" y="3072384"/>
            <a:ext cx="140817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참기로 신규 누적 차단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641080" y="3642360"/>
            <a:ext cx="411480" cy="62484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8668512" y="3697224"/>
            <a:ext cx="35661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9052560" y="3642360"/>
            <a:ext cx="960120" cy="62484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8"/>
          <p:cNvSpPr/>
          <p:nvPr/>
        </p:nvSpPr>
        <p:spPr>
          <a:xfrm>
            <a:off x="9079992" y="3697224"/>
            <a:ext cx="90525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 없는 인형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0012680" y="3642360"/>
            <a:ext cx="1463040" cy="62484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0"/>
          <p:cNvSpPr/>
          <p:nvPr/>
        </p:nvSpPr>
        <p:spPr>
          <a:xfrm>
            <a:off x="10040112" y="3697224"/>
            <a:ext cx="140817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 + 웅크려 이동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641080" y="4267200"/>
            <a:ext cx="41148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8668512" y="4322064"/>
            <a:ext cx="35661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9052560" y="4267200"/>
            <a:ext cx="96012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4"/>
          <p:cNvSpPr/>
          <p:nvPr/>
        </p:nvSpPr>
        <p:spPr>
          <a:xfrm>
            <a:off x="9079992" y="4322064"/>
            <a:ext cx="90525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지점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10012680" y="4267200"/>
            <a:ext cx="1463040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6"/>
          <p:cNvSpPr/>
          <p:nvPr/>
        </p:nvSpPr>
        <p:spPr>
          <a:xfrm>
            <a:off x="10040112" y="4322064"/>
            <a:ext cx="1408176" cy="542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재호흡·자극도 회복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8641080" y="507492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Shape 58"/>
          <p:cNvSpPr/>
          <p:nvPr/>
        </p:nvSpPr>
        <p:spPr>
          <a:xfrm>
            <a:off x="8641080" y="5074920"/>
            <a:ext cx="73152" cy="96012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59"/>
          <p:cNvSpPr/>
          <p:nvPr/>
        </p:nvSpPr>
        <p:spPr>
          <a:xfrm>
            <a:off x="8842248" y="5221224"/>
            <a:ext cx="243230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 설계 원칙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8842248" y="5641848"/>
            <a:ext cx="243230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시작점에서 한 번의 호흡으로 전체를 통과하지 못하게 하며, 안전 지점과 위험 요소의 간격을 조절해 준비 → 통과 → 재정비가 반복되도록 구성.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처리 및 안전장치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처리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규칙을 반복하지 않고, 상태가 충돌해 결과가 모호해지는 상황만 별도로 정의함.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600200"/>
            <a:ext cx="5074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68680" y="1600200"/>
            <a:ext cx="73152" cy="283464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33272" y="174650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57F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174650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호흡 제어 불가 상태 + 수중 진입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" y="2167128"/>
            <a:ext cx="4672584" cy="2121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상태: 자극 이상 / 오염 이상 / 복합 이상 / 과흡입 / 강제 호흡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머리가 잠기는 수중 구간에 들어가면 즉시 익사.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 규칙으로 전환하지 않음.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5074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73152" cy="2834640"/>
          </a:xfrm>
          <a:prstGeom prst="rect">
            <a:avLst/>
          </a:prstGeom>
          <a:solidFill>
            <a:srgbClr val="A45F5F"/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382512" y="174650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174650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과흡입·강제 호흡 중 이상 상태 발생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19088" y="2167128"/>
            <a:ext cx="4672584" cy="2121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과흡입·강제 호흡 중 자극 이상 또는 오염 이상이 발생하면 기존 호흡 실패 상태를 중단하고 이상 상태를 우선 적용.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우선순위: 이상 상태 &gt; 과흡입·강제 호흡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5074920"/>
            <a:ext cx="10012680" cy="640080"/>
          </a:xfrm>
          <a:prstGeom prst="roundRect">
            <a:avLst>
              <a:gd name="adj" fmla="val 14286"/>
            </a:avLst>
          </a:prstGeom>
          <a:solidFill>
            <a:srgbClr val="F8F7F2"/>
          </a:solidFill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417320" y="5321808"/>
            <a:ext cx="9372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안전장치 의도: 중복 판정·모션 충돌·소리 이벤트 중복을 막고, 플레이 결과를 명확하게 유지함.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데이터 및 밸런스 검증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822960" cy="38862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13232" y="1143000"/>
            <a:ext cx="768096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8760" y="1097280"/>
            <a:ext cx="1417320" cy="38862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536192" y="1143000"/>
            <a:ext cx="1362456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097280"/>
            <a:ext cx="1143000" cy="38862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53512" y="1143000"/>
            <a:ext cx="1088136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1485900"/>
            <a:ext cx="82296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13232" y="154076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08760" y="1485900"/>
            <a:ext cx="141732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536192" y="154076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호흡량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1485900"/>
            <a:ext cx="11430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953512" y="154076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1874520"/>
            <a:ext cx="82296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3232" y="192938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08760" y="1874520"/>
            <a:ext cx="141732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536192" y="192938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1874520"/>
            <a:ext cx="114300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953512" y="192938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+50/s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2263140"/>
            <a:ext cx="82296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13232" y="231800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508760" y="2263140"/>
            <a:ext cx="141732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536192" y="231800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2263140"/>
            <a:ext cx="11430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953512" y="231800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-10/s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2651760"/>
            <a:ext cx="82296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13232" y="270662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508760" y="2651760"/>
            <a:ext cx="141732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536192" y="270662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2651760"/>
            <a:ext cx="114300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953512" y="270662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-66.7/s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3040380"/>
            <a:ext cx="82296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13232" y="309524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508760" y="3040380"/>
            <a:ext cx="141732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536192" y="309524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공기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0" y="3040380"/>
            <a:ext cx="11430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2953512" y="309524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+20/s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" y="3429000"/>
            <a:ext cx="82296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13232" y="348386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508760" y="3429000"/>
            <a:ext cx="141732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1536192" y="348386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독가스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926080" y="3429000"/>
            <a:ext cx="114300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2953512" y="348386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+20/s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" y="3817620"/>
            <a:ext cx="82296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13232" y="387248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508760" y="3817620"/>
            <a:ext cx="141732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536192" y="387248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이상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3817620"/>
            <a:ext cx="11430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2953512" y="387248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5800" y="4206240"/>
            <a:ext cx="82296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13232" y="426110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508760" y="4206240"/>
            <a:ext cx="141732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1536192" y="426110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이상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926080" y="4206240"/>
            <a:ext cx="1143000" cy="38862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2953512" y="426110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5800" y="4594860"/>
            <a:ext cx="82296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13232" y="4649724"/>
            <a:ext cx="76809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감지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508760" y="4594860"/>
            <a:ext cx="141732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1536192" y="4649724"/>
            <a:ext cx="136245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 소리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926080" y="4594860"/>
            <a:ext cx="11430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2953512" y="4649724"/>
            <a:ext cx="1088136" cy="3063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0m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480560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밸런스 검증 산출식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4389120" y="150876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4462272" y="1600200"/>
            <a:ext cx="2871216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호흡량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자극도·오염도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환경·이동속도·거리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897880" y="2286000"/>
            <a:ext cx="0" cy="27432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4389120" y="260604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A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4462272" y="2697480"/>
            <a:ext cx="287121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 유지 가능 시간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호흡량 ÷ 초당 소모량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818120" y="260604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087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7891272" y="2697480"/>
            <a:ext cx="296265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위험 한계 시간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남은 임계치 ÷ 실제 누적량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897880" y="3246120"/>
            <a:ext cx="594360" cy="50292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372600" y="3246120"/>
            <a:ext cx="0" cy="502920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6126480" y="3822192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6199632" y="3913632"/>
            <a:ext cx="277977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내 행동 가능 시간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min(호흡 한계, 환경 한계)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589520" y="4462272"/>
            <a:ext cx="0" cy="338328"/>
          </a:xfrm>
          <a:prstGeom prst="line">
            <a:avLst/>
          </a:prstGeom>
          <a:noFill/>
          <a:ln w="19050">
            <a:solidFill>
              <a:srgbClr val="6177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6126480" y="4864608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2AA6A1"/>
          </a:solidFill>
          <a:ln w="12700">
            <a:solidFill>
              <a:srgbClr val="2A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6199632" y="4956048"/>
            <a:ext cx="277977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가능 거리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이동속도 × 행동 가능 시간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052560" y="37947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052560" y="3794760"/>
            <a:ext cx="73152" cy="1828800"/>
          </a:xfrm>
          <a:prstGeom prst="rect">
            <a:avLst/>
          </a:prstGeom>
          <a:solidFill>
            <a:srgbClr val="61777A"/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9253728" y="3941064"/>
            <a:ext cx="1929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구성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9253728" y="4361688"/>
            <a:ext cx="1929384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01_시스템데이터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02_콘텐츠적용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03_계산검증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확정되지 않은 이동속도·구간 거리는 입력값으로 관리.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85800" y="6035040"/>
            <a:ext cx="10744200" cy="384048"/>
          </a:xfrm>
          <a:prstGeom prst="roundRect">
            <a:avLst>
              <a:gd name="adj" fmla="val 23810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868680" y="6144768"/>
            <a:ext cx="1037844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활용: 안전 지점 간 거리, 눈 없는 인형 통과 구간, 위험 공기·수중 구간 길이, 통과 불가능 구간 검증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및 디자인 가이드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" y="1188720"/>
            <a:ext cx="73152" cy="187452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50392" y="133502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1335024"/>
            <a:ext cx="2606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글꼴·크기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1755648"/>
            <a:ext cx="2980944" cy="1161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글꼴: Pretendard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대제목 32pt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중제목·강조 18pt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본문·표 11pt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굵기만 Bold/SemiBold/Regular로 조절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1828800" cy="25146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13232" y="3474720"/>
            <a:ext cx="1773936" cy="1783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429000"/>
            <a:ext cx="1554480" cy="251460"/>
          </a:xfrm>
          <a:prstGeom prst="rect">
            <a:avLst/>
          </a:prstGeom>
          <a:solidFill>
            <a:srgbClr val="0B355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42032" y="3474720"/>
            <a:ext cx="1499616" cy="1783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680460"/>
            <a:ext cx="18288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" y="3735324"/>
            <a:ext cx="177393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680460"/>
            <a:ext cx="15544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42032" y="3735324"/>
            <a:ext cx="149961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#F2EFE8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931920"/>
            <a:ext cx="1828800" cy="2514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" y="3986784"/>
            <a:ext cx="177393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글자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3931920"/>
            <a:ext cx="1554480" cy="2514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542032" y="3986784"/>
            <a:ext cx="149961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#252C32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183380"/>
            <a:ext cx="18288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4238244"/>
            <a:ext cx="177393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4183380"/>
            <a:ext cx="15544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542032" y="4238244"/>
            <a:ext cx="149961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#61777A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4434840"/>
            <a:ext cx="1828800" cy="2514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13232" y="4489704"/>
            <a:ext cx="177393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4434840"/>
            <a:ext cx="1554480" cy="2514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542032" y="4489704"/>
            <a:ext cx="149961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#B99A55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4686300"/>
            <a:ext cx="18288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13232" y="4741164"/>
            <a:ext cx="177393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4686300"/>
            <a:ext cx="15544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542032" y="4741164"/>
            <a:ext cx="149961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#70876A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4937760"/>
            <a:ext cx="1828800" cy="2514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13232" y="4992624"/>
            <a:ext cx="177393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4937760"/>
            <a:ext cx="1554480" cy="251460"/>
          </a:xfrm>
          <a:prstGeom prst="rect">
            <a:avLst/>
          </a:prstGeom>
          <a:solidFill>
            <a:srgbClr val="F8F7F2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542032" y="4992624"/>
            <a:ext cx="149961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#657F95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5189220"/>
            <a:ext cx="18288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713232" y="5244084"/>
            <a:ext cx="177393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위험·사망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14600" y="5189220"/>
            <a:ext cx="15544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2542032" y="5244084"/>
            <a:ext cx="1499616" cy="1691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#A45F5F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89120" y="118872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4389120" y="1188720"/>
            <a:ext cx="73152" cy="146304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553712" y="133502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983480" y="133502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레퍼런스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590288" y="1755648"/>
            <a:ext cx="3072384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BT 구간 숨 참기</a:t>
            </a:r>
            <a:br/>
            <a:r>
              <a:t>스크린샷 삽입 영역</a:t>
            </a:r>
            <a:endParaRPr lang="en-US" sz="1100" dirty="0"/>
          </a:p>
          <a:p>
            <a:pPr algn="ctr">
              <a:defRPr sz="950">
                <a:solidFill>
                  <a:srgbClr val="D5DEE1"/>
                </a:solidFill>
                <a:latin typeface="Pretendard"/>
              </a:defRPr>
            </a:pPr>
            <a:r>
              <a:t>공식 후보: Kojima Productions Tips의 BT 에어리어 이미지</a:t>
            </a:r>
            <a:br/>
            <a:r>
              <a:t>실제 제작 시 권리 확인 후 게임 화면으로 교체</a:t>
            </a:r>
          </a:p>
        </p:txBody>
      </p:sp>
      <p:sp>
        <p:nvSpPr>
          <p:cNvPr id="51" name="Shape 49"/>
          <p:cNvSpPr/>
          <p:nvPr/>
        </p:nvSpPr>
        <p:spPr>
          <a:xfrm>
            <a:off x="4389120" y="28803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4389120" y="2880360"/>
            <a:ext cx="73152" cy="1143000"/>
          </a:xfrm>
          <a:prstGeom prst="rect">
            <a:avLst/>
          </a:prstGeom>
          <a:solidFill>
            <a:srgbClr val="61777A"/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553712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983480" y="302666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참고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4590288" y="3447288"/>
            <a:ext cx="307238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Little Nightmares / INSIDE / REANIMAL은 시스템 레퍼런스가 아니라 비주얼·분위기 참고로만 표기.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89120" y="42519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389120" y="4251960"/>
            <a:ext cx="73152" cy="155448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4553712" y="4398264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9A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ⓘ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4983480" y="439826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제작 자료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4590288" y="4818888"/>
            <a:ext cx="3072384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볼륨맵 / 플로우차트 / 공식 / 데이터 표 / 맵 적용도는 직접 제작.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 화면·콘셉트 이미지는 기획 시뮬레이션 이미지로 표기.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183880" y="118872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8183880" y="1188720"/>
            <a:ext cx="73152" cy="187452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8385048" y="1335024"/>
            <a:ext cx="28437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 사용 원칙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385048" y="1755648"/>
            <a:ext cx="2843784" cy="1161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자극도·오염도·수중·위험은 색상뿐 아니라 이름·아이콘·게이지 형태로도 구분.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색상만으로 정보를 전달하지 않음.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183880" y="370332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F8F7F2"/>
          </a:solidFill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8366760" y="3886200"/>
            <a:ext cx="2880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제작 체크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366760" y="429768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PPT와 Excel 수치 대조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Death Stranding 이미지 출처 확인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생성 이미지는 콘셉트 이미지로 표기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글자 크기 3종 유지</a:t>
            </a:r>
            <a:endParaRPr lang="en-US" sz="1100" dirty="0"/>
          </a:p>
        </p:txBody>
      </p:sp>
      <p:sp>
        <p:nvSpPr>
          <p:cNvPr id="68" name="TextBox 67"/>
          <p:cNvSpPr txBox="1"/>
          <p:nvPr/>
        </p:nvSpPr>
        <p:spPr>
          <a:xfrm>
            <a:off x="6492240" y="54406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1777A"/>
                </a:solidFill>
                <a:latin typeface="Pretendard"/>
              </a:defRPr>
            </a:pPr>
            <a:r>
              <a:t>레퍼런스 스크린샷 후보: Kojima Productions 공식 Tips — BT 에어리어 이미지 및 설명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2569</Words>
  <Application>Microsoft Office PowerPoint</Application>
  <PresentationFormat>와이드스크린</PresentationFormat>
  <Paragraphs>644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호흡 시스템 기획서 v0.2</dc:title>
  <dc:subject>호흡 시스템 기획서</dc:subject>
  <dc:creator>OpenAI</dc:creator>
  <cp:lastModifiedBy>musukie52@gmail.com</cp:lastModifiedBy>
  <cp:revision>2</cp:revision>
  <dcterms:created xsi:type="dcterms:W3CDTF">2026-09-25T18:54:56Z</dcterms:created>
  <dcterms:modified xsi:type="dcterms:W3CDTF">2026-09-26T13:50:46Z</dcterms:modified>
</cp:coreProperties>
</file>